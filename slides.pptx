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D17"/>
              </a:gs>
              <a:gs pos="100000">
                <a:srgbClr val="0E5C4A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206240"/>
            <a:ext cx="4572000" cy="4572000"/>
          </a:xfrm>
          <a:prstGeom prst="ellipse">
            <a:avLst/>
          </a:prstGeom>
          <a:solidFill>
            <a:srgbClr val="14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-1371600"/>
            <a:ext cx="3017520" cy="3017520"/>
          </a:xfrm>
          <a:prstGeom prst="ellipse">
            <a:avLst/>
          </a:prstGeom>
          <a:solidFill>
            <a:srgbClr val="11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621792"/>
            <a:ext cx="384048" cy="38404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22A186"/>
              </a:gs>
              <a:gs pos="100000">
                <a:srgbClr val="0E5C4A"/>
              </a:gs>
            </a:gsLst>
            <a:lin scaled="0" ang="13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retendard"/>
                <a:ea typeface="Pretendard"/>
              </a:rPr>
              <a:t>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694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Pretendard ExtraBold"/>
                <a:ea typeface="Pretendard ExtraBold"/>
              </a:rPr>
              <a:t>검색마스터 </a:t>
            </a:r>
            <a:r>
              <a:rPr sz="1250" b="0" i="0">
                <a:solidFill>
                  <a:srgbClr val="CDB98A"/>
                </a:solidFill>
                <a:latin typeface="Pretendard ExtraBold"/>
                <a:ea typeface="Pretendard ExtraBold"/>
              </a:rPr>
              <a:t>×</a:t>
            </a:r>
            <a:r>
              <a:rPr sz="1250" b="0" i="0">
                <a:solidFill>
                  <a:srgbClr val="FFFFFF"/>
                </a:solidFill>
                <a:latin typeface="Pretendard ExtraBold"/>
                <a:ea typeface="Pretendard ExtraBold"/>
              </a:rPr>
              <a:t> 프리캔버스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00784"/>
            <a:ext cx="384048" cy="16459"/>
          </a:xfrm>
          <a:prstGeom prst="rect">
            <a:avLst/>
          </a:prstGeom>
          <a:solidFill>
            <a:srgbClr val="CD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276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200">
                <a:solidFill>
                  <a:srgbClr val="CDB98A"/>
                </a:solidFill>
                <a:latin typeface="Pretendard ExtraBold"/>
                <a:ea typeface="Pretendard ExtraBold"/>
              </a:rPr>
              <a:t>온라인셀러를 위한 두 개의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5577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검색에 걸리는 </a:t>
            </a:r>
            <a:r>
              <a:rPr sz="3200" b="1" i="0">
                <a:solidFill>
                  <a:srgbClr val="CDB98A"/>
                </a:solidFill>
                <a:latin typeface="Noto Serif KR"/>
                <a:ea typeface="Noto Serif KR"/>
              </a:rPr>
              <a:t>이름</a:t>
            </a: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,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구매로 이어지는 </a:t>
            </a:r>
            <a:r>
              <a:rPr sz="3200" b="1" i="0">
                <a:solidFill>
                  <a:srgbClr val="CDB98A"/>
                </a:solidFill>
                <a:latin typeface="Noto Serif KR"/>
                <a:ea typeface="Noto Serif KR"/>
              </a:rPr>
              <a:t>화면</a:t>
            </a:r>
            <a:r>
              <a:rPr sz="3200" b="1" i="0">
                <a:solidFill>
                  <a:srgbClr val="FBF8EE"/>
                </a:solidFill>
                <a:latin typeface="Noto Serif KR"/>
                <a:ea typeface="Noto Serif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CFDAD0"/>
                </a:solidFill>
                <a:latin typeface="Pretendard"/>
                <a:ea typeface="Pretendard"/>
              </a:rPr>
              <a:t>상품명부터 상세페이지·영상·카드뉴스까지,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CFDAD0"/>
                </a:solidFill>
                <a:latin typeface="Pretendard"/>
                <a:ea typeface="Pretendard"/>
              </a:rPr>
              <a:t>이번 여름 한층 깊어진 두 서비스를 소개합니다.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49240"/>
            <a:ext cx="169164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9DFC2"/>
                </a:solidFill>
                <a:latin typeface="Pretendard SemiBold"/>
                <a:ea typeface="Pretendard SemiBold"/>
              </a:rPr>
              <a:t>2026 여름 업데이트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5349240"/>
            <a:ext cx="132588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9DFC2"/>
                </a:solidFill>
                <a:latin typeface="Pretendard SemiBold"/>
                <a:ea typeface="Pretendard SemiBold"/>
              </a:rPr>
              <a:t>실제 화면 수록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777240"/>
            <a:ext cx="4572000" cy="1872685"/>
          </a:xfrm>
          <a:prstGeom prst="roundRect">
            <a:avLst>
              <a:gd name="adj" fmla="val 4470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76872" y="8823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00316" y="8823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0" y="8823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52" y="845819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 — 프리캔버스</a:t>
            </a:r>
          </a:p>
        </p:txBody>
      </p:sp>
      <p:pic>
        <p:nvPicPr>
          <p:cNvPr id="19" name="Picture 18" descr="fc_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051560"/>
            <a:ext cx="4544568" cy="1566361"/>
          </a:xfrm>
          <a:prstGeom prst="rect">
            <a:avLst/>
          </a:prstGeom>
          <a:effectLst/>
        </p:spPr>
      </p:pic>
      <p:sp>
        <p:nvSpPr>
          <p:cNvPr id="20" name="Rounded Rectangle 19"/>
          <p:cNvSpPr/>
          <p:nvPr/>
        </p:nvSpPr>
        <p:spPr>
          <a:xfrm>
            <a:off x="6355080" y="2834640"/>
            <a:ext cx="3977639" cy="3355884"/>
          </a:xfrm>
          <a:prstGeom prst="roundRect">
            <a:avLst>
              <a:gd name="adj" fmla="val 2475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9397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97396" y="29397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20840" y="29397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85432" y="2903220"/>
            <a:ext cx="3291839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상품명 생성기</a:t>
            </a:r>
          </a:p>
        </p:txBody>
      </p:sp>
      <p:pic>
        <p:nvPicPr>
          <p:cNvPr id="25" name="Picture 24" descr="sm_ap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3108960"/>
            <a:ext cx="3950207" cy="304956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왜 두 개의 AI인가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상품 하나를 팔려면,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셀러는 </a:t>
            </a:r>
            <a:r>
              <a:rPr sz="2700" b="1" i="0">
                <a:solidFill>
                  <a:srgbClr val="0E5C4A"/>
                </a:solidFill>
                <a:latin typeface="Noto Serif KR"/>
                <a:ea typeface="Noto Serif KR"/>
              </a:rPr>
              <a:t>두 번</a:t>
            </a: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 이겨야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2F7F3"/>
          </a:solidFill>
          <a:ln w="9525">
            <a:solidFill>
              <a:srgbClr val="CFE3D7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E5C4A"/>
                </a:solidFill>
                <a:latin typeface="Noto Serif KR"/>
                <a:ea typeface="Noto Serif KR"/>
              </a:rPr>
              <a:t>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A2721"/>
                </a:solidFill>
                <a:latin typeface="Noto Serif KR"/>
                <a:ea typeface="Noto Serif KR"/>
              </a:rPr>
              <a:t>발견의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5C6C5D"/>
                </a:solidFill>
                <a:latin typeface="Pretendard SemiBold"/>
                <a:ea typeface="Pretendard SemiBold"/>
              </a:rPr>
              <a:t>검색 결과에 노출되기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고객이 검색창에 친 바로 그 말에 내 상품이 걸려야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3D4B43"/>
                </a:solidFill>
                <a:latin typeface="Pretendard ExtraBold"/>
                <a:ea typeface="Pretendard ExtraBold"/>
              </a:rPr>
              <a:t>검색마스터</a:t>
            </a: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FFDF7"/>
          </a:solidFill>
          <a:ln w="9525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8A6A33"/>
                </a:solidFill>
                <a:latin typeface="Noto Serif KR"/>
                <a:ea typeface="Noto Serif KR"/>
              </a:rPr>
              <a:t>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A2721"/>
                </a:solidFill>
                <a:latin typeface="Noto Serif KR"/>
                <a:ea typeface="Noto Serif KR"/>
              </a:rPr>
              <a:t>설득의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5C6C5D"/>
                </a:solidFill>
                <a:latin typeface="Pretendard SemiBold"/>
                <a:ea typeface="Pretendard SemiBold"/>
              </a:rPr>
              <a:t>클릭을 구매로 바꾸기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들어온 고객이 스크롤을 내리다 결제 버튼을 누르게 해야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3D4B43"/>
                </a:solidFill>
                <a:latin typeface="Pretendard ExtraBold"/>
                <a:ea typeface="Pretendard ExtraBold"/>
              </a:rPr>
              <a:t>프리캔버스</a:t>
            </a:r>
            <a:r>
              <a:rPr sz="1150" b="0" i="0">
                <a:solidFill>
                  <a:srgbClr val="3D4B43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6072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아무리 좋은 물건도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보이지 않으면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 없는 상품이고,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마음을 움직이지 못하면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 스쳐 가는 상품입니다.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따로 쓰는 두 개의 앱이 아니라,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하나로 </a:t>
            </a:r>
            <a:r>
              <a:rPr sz="2700" b="1" i="0">
                <a:solidFill>
                  <a:srgbClr val="0E5C4A"/>
                </a:solidFill>
                <a:latin typeface="Noto Serif KR"/>
                <a:ea typeface="Noto Serif KR"/>
              </a:rPr>
              <a:t>이어지는 한 벌</a:t>
            </a:r>
            <a:r>
              <a:rPr sz="2700" b="1" i="0">
                <a:solidFill>
                  <a:srgbClr val="1A2721"/>
                </a:solidFill>
                <a:latin typeface="Noto Serif KR"/>
                <a:ea typeface="Noto Serif KR"/>
              </a:rPr>
              <a:t>의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4572000" cy="1945614"/>
          </a:xfrm>
          <a:prstGeom prst="roundRect">
            <a:avLst>
              <a:gd name="adj" fmla="val 4300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30769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5276" y="30769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30769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53312" y="3040380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상품명 생성기</a:t>
            </a:r>
          </a:p>
        </p:txBody>
      </p:sp>
      <p:pic>
        <p:nvPicPr>
          <p:cNvPr id="12" name="Picture 11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3246120"/>
            <a:ext cx="4544568" cy="1639291"/>
          </a:xfrm>
          <a:prstGeom prst="rect">
            <a:avLst/>
          </a:prstGeom>
          <a:effectLst/>
        </p:spPr>
      </p:pic>
      <p:sp>
        <p:nvSpPr>
          <p:cNvPr id="13" name="Rounded Rectangle 12"/>
          <p:cNvSpPr/>
          <p:nvPr/>
        </p:nvSpPr>
        <p:spPr>
          <a:xfrm>
            <a:off x="4434840" y="3355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A98449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3108960"/>
            <a:ext cx="4572000" cy="1493971"/>
          </a:xfrm>
          <a:prstGeom prst="roundRect">
            <a:avLst>
              <a:gd name="adj" fmla="val 562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2" y="321411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54596" y="321411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21411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42631" y="3177540"/>
            <a:ext cx="38862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</a:t>
            </a:r>
          </a:p>
        </p:txBody>
      </p:sp>
      <p:pic>
        <p:nvPicPr>
          <p:cNvPr id="20" name="Picture 19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3383279"/>
            <a:ext cx="4544568" cy="118764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424159" y="349300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검색마스터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이름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짓고,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프리캔버스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3D4B43"/>
                </a:solidFill>
                <a:latin typeface="Pretendard ExtraBold"/>
                <a:ea typeface="Pretendard ExtraBold"/>
              </a:rPr>
              <a:t>모습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만듭니다.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오늘은 </a:t>
            </a:r>
            <a:r>
              <a:rPr sz="1250" b="0" i="0">
                <a:solidFill>
                  <a:srgbClr val="8A6A33"/>
                </a:solidFill>
                <a:latin typeface="Pretendard ExtraBold"/>
                <a:ea typeface="Pretendard ExtraBold"/>
              </a:rPr>
              <a:t>이번 여름 새로 더해진 기능들</a:t>
            </a:r>
            <a:r>
              <a:rPr sz="1250" b="0" i="0">
                <a:solidFill>
                  <a:srgbClr val="3D4B43"/>
                </a:solidFill>
                <a:latin typeface="Pretendard"/>
                <a:ea typeface="Pretendard"/>
              </a:rPr>
              <a:t>을 실제 화면으로 보여드립니다.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 일 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검색에 걸리는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이름 짓기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검색마스터 — 사진 한 장과 설명 한 줄로, 검색에 닿는 상품명을 완성합니다.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 — 새로워진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이제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사진과 설명을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함께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읽습니다.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“책상 위에 놓는 무선 충전 겸용 스탠드”처럼 한 줄만 보태면, 사진만으로는 놓치기 쉬운 재질과 용도까지 상품명에 정확히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판매 채널별 이름 전략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 문법대로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기다림 없는 화면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사진을 올리면 바로 보이고, 생성 과정이 화면에 그대로 표시되어 기다림이 지루하지 않습니다.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70432"/>
            <a:ext cx="4343400" cy="3638251"/>
          </a:xfrm>
          <a:prstGeom prst="roundRect">
            <a:avLst>
              <a:gd name="adj" fmla="val 2282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275588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275588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275588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239012"/>
            <a:ext cx="36576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검색마스터 — 생성 작업</a:t>
            </a:r>
          </a:p>
        </p:txBody>
      </p:sp>
      <p:pic>
        <p:nvPicPr>
          <p:cNvPr id="20" name="Picture 19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444752"/>
            <a:ext cx="4315968" cy="333192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9646919" y="155448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918411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사진 · 판매 채널 · 상품 설명 · 보강 키워드 — 한 화면에서 끝납니다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검색에 걸리는 이름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 이 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사고 싶게 만드는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콘텐츠 공방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프리캔버스 — 소싱한 재료가 상세페이지·영상·카드뉴스가 되기까지, 손길이 가던 일들을 덜어냈습니다.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첫 화면부터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들어서면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세 개의 작업실</a:t>
            </a: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이 기다립니다.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10543032" cy="1589227"/>
          </a:xfrm>
          <a:prstGeom prst="roundRect">
            <a:avLst>
              <a:gd name="adj" fmla="val 5284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7053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5276" y="17053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7053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53312" y="1668780"/>
            <a:ext cx="9857232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www.freecanvas.ai.kr — 작업 선택</a:t>
            </a:r>
          </a:p>
        </p:txBody>
      </p:sp>
      <p:pic>
        <p:nvPicPr>
          <p:cNvPr id="12" name="Picture 11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1874519"/>
            <a:ext cx="10515600" cy="1282903"/>
          </a:xfrm>
          <a:prstGeom prst="rect">
            <a:avLst/>
          </a:prstGeom>
          <a:effectLst/>
        </p:spPr>
      </p:pic>
      <p:sp>
        <p:nvSpPr>
          <p:cNvPr id="13" name="Rounded Rectangle 12"/>
          <p:cNvSpPr/>
          <p:nvPr/>
        </p:nvSpPr>
        <p:spPr>
          <a:xfrm>
            <a:off x="10405872" y="19842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09467"/>
            <a:ext cx="29260" cy="566928"/>
          </a:xfrm>
          <a:prstGeom prst="rect">
            <a:avLst/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48203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제품 사진과 정보만 넣으면 상세페이지를 처음부터 지어줍니다.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59275"/>
            <a:ext cx="29260" cy="566928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3184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이미 있는 상세 캡처를 블록으로 풀어 바로 손질합니다.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09083"/>
            <a:ext cx="29260" cy="566928"/>
          </a:xfrm>
          <a:prstGeom prst="rect">
            <a:avLst/>
          </a:prstGeom>
          <a:solidFill>
            <a:srgbClr val="1A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981651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A2721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86323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일반·의류·과일채소 상세페이지에 </a:t>
            </a:r>
            <a:r>
              <a:rPr sz="1100" b="0" i="0">
                <a:solidFill>
                  <a:srgbClr val="3D4B43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와 </a:t>
            </a:r>
            <a:r>
              <a:rPr sz="1100" b="0" i="0">
                <a:solidFill>
                  <a:srgbClr val="3D4B43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까지 — 다섯 갈래 결과물이 한 곳에서 나옵니다.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527755"/>
            <a:ext cx="1783080" cy="2741331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11312" y="3632911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4756" y="3632911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58200" y="3632911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22792" y="3596335"/>
            <a:ext cx="10972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결과물 고르기</a:t>
            </a:r>
          </a:p>
        </p:txBody>
      </p:sp>
      <p:pic>
        <p:nvPicPr>
          <p:cNvPr id="26" name="Picture 25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56" y="3802075"/>
            <a:ext cx="1755648" cy="2435007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콘텐츠 공방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소싱 링크를 붙여넣으면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재료가 알아서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상품 주소만 붙여넣으면 작은 새 창이 열려 상세 내용과 상품 이미지를 통째로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확장 프로그램 한 번 설치로 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웹스토어 단추와 설치 안내가 화면 안에 있어, 처음 한 번만 설치해 두면 다음부터는 붙여넣기만으로 충분합니다.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중국어 정리까지 자동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1688에서 가져온 문구 속 중국어와 불필요한 표기를 한국어 기준으로 매만져 줍니다.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4892040" cy="2981858"/>
          </a:xfrm>
          <a:prstGeom prst="roundRect">
            <a:avLst>
              <a:gd name="adj" fmla="val 278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88823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88823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88823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851660"/>
            <a:ext cx="420624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상품 링크로 빠른 시작</a:t>
            </a:r>
          </a:p>
        </p:txBody>
      </p:sp>
      <p:pic>
        <p:nvPicPr>
          <p:cNvPr id="20" name="Picture 19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057400"/>
            <a:ext cx="4864607" cy="2675534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195559" y="216712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874666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스마트스토어 링크와 1688 링크, 각각 “불러오기” 한 번이면 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소싱이 곧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중국어 상품 영상이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한국어 콘텐츠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가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중국어 자막 지우고, 한국어 자막 입히기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영상 속 중국어 문구 자리를 찾아 지우고 그 자리에 자연스러운 한국어 자막을 얹습니다.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자막에 맞춰 우리말 음성을 입혀, 소리까지 완전한 한국어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쇼츠·릴스에 바로 올릴 수 있는 세로 비율로 저장되며, 자막 파일도 함께 제공됩니다.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74519"/>
            <a:ext cx="4983480" cy="2675314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97967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97967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97967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943100"/>
            <a:ext cx="42976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1688 영상 번역 작업실</a:t>
            </a:r>
          </a:p>
        </p:txBody>
      </p:sp>
      <p:pic>
        <p:nvPicPr>
          <p:cNvPr id="20" name="Picture 19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148839"/>
            <a:ext cx="4956048" cy="236899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287000" y="22585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59562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영상 후보 탐색부터 한국어 자막 생성·저장까지 한 작업실에서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영상까지 우리말로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긴 상세페이지도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블록으로 풀어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 고칩니다.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캡처 한 장이 편집 블록으로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분해합니다.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자른 경계는 끌어서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나뉜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그림 속 글자도 고쳐 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이미지 속 문구를 골라 내용을 고치고 글꼴을 정하면, 그 모습 그대로 다시 그려냅니다.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74519"/>
            <a:ext cx="4983480" cy="2675314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97967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97967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97967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943100"/>
            <a:ext cx="429768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기존 상세페이지 편집 작업실</a:t>
            </a:r>
          </a:p>
        </p:txBody>
      </p:sp>
      <p:pic>
        <p:nvPicPr>
          <p:cNvPr id="20" name="Picture 19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2148839"/>
            <a:ext cx="4956048" cy="236899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10287000" y="22585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59562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캡처를 올리면 이미지·텍스트 블록으로 정리되어 바로 수정합니다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있는 상세도 내 것으로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홍보용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카드뉴스</a:t>
            </a: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는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사진이 없어도 완성됩니다.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줄거리만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주제와 하고 싶은 말을 적으면, 넘겨보는 카드 여러 장이 처음부터 끝까지 한 호흡으로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모든 장의 결이 같게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색·글꼴·판짜임을 먼저 정해 두고 그리기 때문에, 장마다 분위기가 어긋나는 일이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사진 없이도, 분위기만 빌려도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사진이 없으면 글만으로 만들고, 있다면 분위기를 참고하는 정도로만 쓸 수도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4206240" cy="31065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79679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79679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79679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760220"/>
            <a:ext cx="3520439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카드뉴스 만들기 안내</a:t>
            </a:r>
          </a:p>
        </p:txBody>
      </p:sp>
      <p:pic>
        <p:nvPicPr>
          <p:cNvPr id="20" name="Picture 19" descr="fc_cardne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965960"/>
            <a:ext cx="4178807" cy="2800231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9509759" y="207568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907924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“카드뉴스는 사진 없이도 생성할 수 있습니다” — 화면 속 안내 그대로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알리는 일까지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지우고 싶은 곳만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칠하면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소싱 이미지의 티끌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박혀 있는 워터마크, 중국어 글자, 거슬리는 배경 — 붓으로 칠한 자리만 감쪽같이 지워집니다.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내 컴퓨터 안에서 즉시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편집 화면 안에서 곧바로 지워져, 기다리거나 다른 도구로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붓 하나로 끝나는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복잡한 설정을 들어냈습니다. 문지르면 지워진다 — 그게 전부입니다.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33453D"/>
              </a:gs>
              <a:gs pos="100000">
                <a:srgbClr val="14523F"/>
              </a:gs>
            </a:gsLst>
            <a:lin scaled="0" ang="13200000"/>
          </a:gradFill>
          <a:ln>
            <a:noFill/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8DA096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DE8E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23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2A186"/>
              </a:gs>
              <a:gs pos="100000">
                <a:srgbClr val="0E5C4A"/>
              </a:gs>
            </a:gsLst>
            <a:lin scaled="0" ang="13200000"/>
          </a:gradFill>
          <a:ln>
            <a:noFill/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0A463A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소싱 이미지를 내 것으로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— 처음이어도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화면이 </a:t>
            </a:r>
            <a:r>
              <a:rPr sz="2200" b="1" i="0">
                <a:solidFill>
                  <a:srgbClr val="0E5C4A"/>
                </a:solidFill>
                <a:latin typeface="Noto Serif KR"/>
                <a:ea typeface="Noto Serif KR"/>
              </a:rPr>
              <a:t>손을 잡고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A2721"/>
                </a:solidFill>
                <a:latin typeface="Noto Serif KR"/>
                <a:ea typeface="Noto Serif KR"/>
              </a:rPr>
              <a:t>차례로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871216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결과물마다 다른 안내 순서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950208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열 걸음의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사진 올리기부터 저장까지, 화면 위에서 한 걸음씩 짚어 주어 헤맬 틈이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658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6A33"/>
                </a:solidFill>
                <a:latin typeface="Noto Serif KR"/>
                <a:ea typeface="Noto Serif KR"/>
              </a:rPr>
              <a:t>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029200"/>
            <a:ext cx="4160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A2721"/>
                </a:solidFill>
                <a:latin typeface="Pretendard ExtraBold"/>
                <a:ea typeface="Pretendard ExtraBold"/>
              </a:rPr>
              <a:t>언제든 다시 열어보기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첫 화면의 “사용법 보기” 하나면 언제든 처음부터 다시 안내를 받을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71600"/>
            <a:ext cx="3657600" cy="3519231"/>
          </a:xfrm>
          <a:prstGeom prst="roundRect">
            <a:avLst>
              <a:gd name="adj" fmla="val 2359"/>
            </a:avLst>
          </a:prstGeom>
          <a:solidFill>
            <a:srgbClr val="FFFFFF"/>
          </a:solidFill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1476756"/>
            <a:ext cx="68580" cy="68580"/>
          </a:xfrm>
          <a:prstGeom prst="ellipse">
            <a:avLst/>
          </a:prstGeom>
          <a:solidFill>
            <a:srgbClr val="E8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5955" y="1476756"/>
            <a:ext cx="68580" cy="68580"/>
          </a:xfrm>
          <a:prstGeom prst="ellipse">
            <a:avLst/>
          </a:prstGeom>
          <a:solidFill>
            <a:srgbClr val="E6C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1476756"/>
            <a:ext cx="68580" cy="68580"/>
          </a:xfrm>
          <a:prstGeom prst="ellipse">
            <a:avLst/>
          </a:prstGeom>
          <a:solidFill>
            <a:srgbClr val="B5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93992" y="1440180"/>
            <a:ext cx="2971800" cy="141732"/>
          </a:xfrm>
          <a:prstGeom prst="roundRect">
            <a:avLst>
              <a:gd name="adj" fmla="val 50000"/>
            </a:avLst>
          </a:prstGeom>
          <a:solidFill>
            <a:srgbClr val="FFFDF6"/>
          </a:solidFill>
          <a:ln w="635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5C6C5D"/>
                </a:solidFill>
                <a:latin typeface="Pretendard"/>
                <a:ea typeface="Pretendard"/>
              </a:rPr>
              <a:t>사용법 안내 — 첫 걸음</a:t>
            </a:r>
          </a:p>
        </p:txBody>
      </p:sp>
      <p:pic>
        <p:nvPicPr>
          <p:cNvPr id="20" name="Picture 19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5" y="1645920"/>
            <a:ext cx="3630168" cy="3212907"/>
          </a:xfrm>
          <a:prstGeom prst="rect">
            <a:avLst/>
          </a:prstGeom>
          <a:effectLst/>
        </p:spPr>
      </p:pic>
      <p:sp>
        <p:nvSpPr>
          <p:cNvPr id="21" name="Rounded Rectangle 20"/>
          <p:cNvSpPr/>
          <p:nvPr/>
        </p:nvSpPr>
        <p:spPr>
          <a:xfrm>
            <a:off x="8961119" y="17556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E5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실제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000559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제품 사진 올리기부터 열 단계 — 안내 그대로 따라가면 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— 배우는 시간 없이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7EE"/>
              </a:gs>
              <a:gs pos="100000">
                <a:srgbClr val="F0ECDF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D9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73736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0" i="1">
                <a:solidFill>
                  <a:srgbClr val="E5D7BA"/>
                </a:solidFill>
                <a:latin typeface="Cormorant Garamond"/>
                <a:ea typeface="Cormorant Garamond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0"/>
              </a:spcAft>
            </a:pPr>
            <a:r>
              <a:rPr sz="1200" b="0" i="0" spc="380">
                <a:solidFill>
                  <a:srgbClr val="8A6A33"/>
                </a:solidFill>
                <a:latin typeface="Pretendard ExtraBold"/>
                <a:ea typeface="Pretendard ExtraBold"/>
              </a:rPr>
              <a:t>제 삼 장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둘이 하나로</a:t>
            </a:r>
          </a:p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1A2721"/>
                </a:solidFill>
                <a:latin typeface="Noto Serif KR"/>
                <a:ea typeface="Noto Serif KR"/>
              </a:rPr>
              <a:t>이어지는 순간</a:t>
            </a:r>
          </a:p>
          <a:p>
            <a:pPr algn="l">
              <a:lnSpc>
                <a:spcPct val="140000"/>
              </a:lnSpc>
              <a:spcBef>
                <a:spcPts val="1500"/>
              </a:spcBef>
            </a:pPr>
            <a:r>
              <a:rPr sz="1300" b="0" i="0">
                <a:solidFill>
                  <a:srgbClr val="3D4B43"/>
                </a:solidFill>
                <a:latin typeface="Pretendard"/>
                <a:ea typeface="Pretendard"/>
              </a:rPr>
              <a:t>같은 구글 계정, 같은 상품 — 화면 안 단추 하나로 두 서비스가 맞물립니다.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이번 여름의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프리캔버스 첫 줄에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검색마스터</a:t>
            </a: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가 들어왔습니다.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22A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E5C4A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E6DFCF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A2721"/>
                </a:solidFill>
                <a:latin typeface="Noto Serif KR"/>
                <a:ea typeface="Noto Serif KR"/>
              </a:rPr>
              <a:t>프리캔버스에서 만들다가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상세페이지 작업 중 상품명·키워드가 필요해지는 순간이 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A98449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6A33"/>
                </a:solidFill>
                <a:latin typeface="Pretendard ExtraBold"/>
                <a:ea typeface="Pretendard ExtraBold"/>
              </a:rPr>
              <a:t>단추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7F3"/>
          </a:solidFill>
          <a:ln w="9525">
            <a:solidFill>
              <a:srgbClr val="CFE3D7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A2721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D4B43"/>
                </a:solidFill>
                <a:latin typeface="Pretendard"/>
                <a:ea typeface="Pretendard"/>
              </a:rPr>
              <a:t>쓰던 구글 계정 그대로 열려,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D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2721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으로 두 서비스를 오갑니다 — 구독은 서비스별로 따로, 계정은 하나로.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ExtraBold"/>
                <a:ea typeface="Pretendard ExtraBold"/>
              </a:rPr>
              <a:t>검색마스터</a:t>
            </a: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 × 프리캔버스 — 하나의 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8165592" cy="21945"/>
          </a:xfrm>
          <a:prstGeom prst="rect">
            <a:avLst/>
          </a:prstGeom>
          <a:solidFill>
            <a:srgbClr val="C9B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A9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E5C4A"/>
                </a:solidFill>
                <a:latin typeface="Pretendard ExtraBold"/>
                <a:ea typeface="Pretendard ExtraBold"/>
              </a:rPr>
              <a:t>셀러의 하루 — 실전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2721"/>
                </a:solidFill>
                <a:latin typeface="Noto Serif KR"/>
                <a:ea typeface="Noto Serif KR"/>
              </a:rPr>
              <a:t>상품 하나가 </a:t>
            </a:r>
            <a:r>
              <a:rPr sz="2300" b="1" i="0">
                <a:solidFill>
                  <a:srgbClr val="0E5C4A"/>
                </a:solidFill>
                <a:latin typeface="Noto Serif KR"/>
                <a:ea typeface="Noto Serif KR"/>
              </a:rPr>
              <a:t>등록까지 가는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첫걸음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A984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2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6A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스마트스토어·1688 상품 주소로 이미지와 상품 정보를 한 번에 담아옵니다.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두걸음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E5C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E5C4A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상품명·키워드 짓기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상단 단추로 넘어가 사진과 설명을 넣고, 판매 채널에 맞는 상품명을 완성합니다.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E6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세걸음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A984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2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6A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같은 재료로 상세페이지를 짓고, 1688 영상은 한국어로, 홍보는 카드뉴스로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8A6A33"/>
                </a:solidFill>
                <a:latin typeface="Noto Serif KR"/>
                <a:ea typeface="Noto Serif KR"/>
              </a:rPr>
              <a:t>네걸음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A27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A2721"/>
                </a:solidFill>
                <a:latin typeface="Pretendard ExtraBold"/>
                <a:ea typeface="Pretendard ExtraBold"/>
              </a:rPr>
              <a:t>플랫폼에 올리기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C5D"/>
                </a:solidFill>
                <a:latin typeface="Pretendard"/>
                <a:ea typeface="Pretendard"/>
              </a:rPr>
              <a:t>완성본을 내려받아 그대로 등록합니다. 외주 없이, 하루 안에 끝나는 흐름입니다.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46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C5D"/>
                </a:solidFill>
                <a:latin typeface="Pretendard"/>
                <a:ea typeface="Pretendard"/>
              </a:rPr>
              <a:t>소싱 → 이름 → 콘텐츠 →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00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1">
                <a:solidFill>
                  <a:srgbClr val="5C6C5D"/>
                </a:solidFill>
                <a:latin typeface="Cormorant Garamond"/>
                <a:ea typeface="Cormorant Garamond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D17"/>
              </a:gs>
              <a:gs pos="100000">
                <a:srgbClr val="0E5C4A"/>
              </a:gs>
            </a:gsLst>
            <a:lin scaled="0" ang="12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389120"/>
            <a:ext cx="4389120" cy="4389120"/>
          </a:xfrm>
          <a:prstGeom prst="ellipse">
            <a:avLst/>
          </a:prstGeom>
          <a:solidFill>
            <a:srgbClr val="14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" y="146304"/>
            <a:ext cx="11899087" cy="6565392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04672"/>
            <a:ext cx="384048" cy="16459"/>
          </a:xfrm>
          <a:prstGeom prst="rect">
            <a:avLst/>
          </a:prstGeom>
          <a:solidFill>
            <a:srgbClr val="CDB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731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200">
                <a:solidFill>
                  <a:srgbClr val="CDB98A"/>
                </a:solidFill>
                <a:latin typeface="Pretendard ExtraBold"/>
                <a:ea typeface="Pretendard ExtraBold"/>
              </a:rPr>
              <a:t>오늘부터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FBF8EE"/>
                </a:solidFill>
                <a:latin typeface="Noto Serif KR"/>
                <a:ea typeface="Noto Serif KR"/>
              </a:rPr>
              <a:t>다음에 올릴 그 상품부터,</a:t>
            </a:r>
          </a:p>
          <a:p>
            <a:pPr algn="l">
              <a:lnSpc>
                <a:spcPct val="128000"/>
              </a:lnSpc>
            </a:pPr>
            <a:r>
              <a:rPr sz="2900" b="1" i="0">
                <a:solidFill>
                  <a:srgbClr val="FBF8EE"/>
                </a:solidFill>
                <a:latin typeface="Noto Serif KR"/>
                <a:ea typeface="Noto Serif KR"/>
              </a:rPr>
              <a:t>두 AI에게 맡겨 보세요.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하나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의 계정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로그인은 한 번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둘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의 승부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발견과 설득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검색에 걸리는 이름은 검색마스터가, 사고 싶어지는 모습은 프리캔버스가.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36992" y="3063240"/>
            <a:ext cx="3429000" cy="1481328"/>
          </a:xfrm>
          <a:prstGeom prst="roundRect">
            <a:avLst>
              <a:gd name="adj" fmla="val 10000"/>
            </a:avLst>
          </a:prstGeom>
          <a:solidFill>
            <a:srgbClr val="17352B"/>
          </a:solidFill>
          <a:ln w="9525">
            <a:solidFill>
              <a:srgbClr val="6B5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3" y="3273552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100" b="1" i="0">
                <a:solidFill>
                  <a:srgbClr val="CDB98A"/>
                </a:solidFill>
                <a:latin typeface="Noto Serif KR"/>
                <a:ea typeface="Noto Serif KR"/>
              </a:rPr>
              <a:t>여섯</a:t>
            </a:r>
            <a:r>
              <a:rPr sz="1100" b="0" i="0">
                <a:solidFill>
                  <a:srgbClr val="CDB98A"/>
                </a:solidFill>
                <a:latin typeface="Pretendard"/>
                <a:ea typeface="Pretendard"/>
              </a:rPr>
              <a:t>  가지 기능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F0ECDD"/>
                </a:solidFill>
                <a:latin typeface="Pretendard ExtraBold"/>
                <a:ea typeface="Pretendard ExtraBold"/>
              </a:rPr>
              <a:t>이번 여름의 새것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B9C6BA"/>
                </a:solidFill>
                <a:latin typeface="Pretendard"/>
                <a:ea typeface="Pretendard"/>
              </a:rPr>
              <a:t>설명 입력 · 링크 소싱 · 영상 한국어화 · 상세 편집 · 카드뉴스 · 지우개.</a:t>
            </a:r>
          </a:p>
        </p:txBody>
      </p:sp>
      <p:sp>
        <p:nvSpPr>
          <p:cNvPr id="14" name="Rounded Rectangle 13">
            <a:hlinkClick r:id="rId2"/>
          </p:cNvPr>
          <p:cNvSpPr/>
          <p:nvPr/>
        </p:nvSpPr>
        <p:spPr>
          <a:xfrm>
            <a:off x="822960" y="4892040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B3A31"/>
          </a:solidFill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566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CDB98A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EEF6EF"/>
                </a:solidFill>
                <a:latin typeface="Cormorant Garamond"/>
                <a:ea typeface="Cormorant Garamond"/>
              </a:rPr>
              <a:t>ramiteacher.github.io/product-title-ai</a:t>
            </a:r>
          </a:p>
        </p:txBody>
      </p:sp>
      <p:sp>
        <p:nvSpPr>
          <p:cNvPr id="16" name="Rounded Rectangle 15">
            <a:hlinkClick r:id="rId3"/>
          </p:cNvPr>
          <p:cNvSpPr/>
          <p:nvPr/>
        </p:nvSpPr>
        <p:spPr>
          <a:xfrm>
            <a:off x="6172200" y="4892040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B3A31"/>
          </a:solidFill>
          <a:ln w="9525">
            <a:solidFill>
              <a:srgbClr val="8A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50566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CDB98A"/>
                </a:solidFill>
                <a:latin typeface="Pretendard ExtraBold"/>
                <a:ea typeface="Pretendard ExtraBold"/>
              </a:rPr>
              <a:t>프리캔버스 — 콘텐츠 공방</a:t>
            </a:r>
          </a:p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EEF6EF"/>
                </a:solidFill>
                <a:latin typeface="Cormorant Garamond"/>
                <a:ea typeface="Cormorant Garamond"/>
              </a:rPr>
              <a:t>www.freecanvas.ai.kr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722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6DCB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