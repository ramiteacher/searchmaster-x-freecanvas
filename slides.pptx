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amiteacher.github.io/product-title-ai/" TargetMode="External"/><Relationship Id="rId3" Type="http://schemas.openxmlformats.org/officeDocument/2006/relationships/hyperlink" Target="https://www.freecanvas.ai.kr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D17"/>
              </a:gs>
              <a:gs pos="100000">
                <a:srgbClr val="0E5C4A"/>
              </a:gs>
            </a:gsLst>
            <a:lin scaled="0" ang="12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206240"/>
            <a:ext cx="4572000" cy="4572000"/>
          </a:xfrm>
          <a:prstGeom prst="ellipse">
            <a:avLst/>
          </a:prstGeom>
          <a:solidFill>
            <a:srgbClr val="14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-1371600"/>
            <a:ext cx="3017520" cy="3017520"/>
          </a:xfrm>
          <a:prstGeom prst="ellipse">
            <a:avLst/>
          </a:prstGeom>
          <a:solidFill>
            <a:srgbClr val="113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21792"/>
            <a:ext cx="384048" cy="38404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22A186"/>
              </a:gs>
              <a:gs pos="100000">
                <a:srgbClr val="0E5C4A"/>
              </a:gs>
            </a:gsLst>
            <a:lin scaled="0" ang="13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Pretendard"/>
                <a:ea typeface="Pretendard"/>
              </a:rPr>
              <a:t>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69494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Pretendard ExtraBold"/>
                <a:ea typeface="Pretendard ExtraBold"/>
              </a:rPr>
              <a:t>검색마스터 </a:t>
            </a:r>
            <a:r>
              <a:rPr sz="1250" b="0" i="0">
                <a:solidFill>
                  <a:srgbClr val="CDB98A"/>
                </a:solidFill>
                <a:latin typeface="Pretendard ExtraBold"/>
                <a:ea typeface="Pretendard ExtraBold"/>
              </a:rPr>
              <a:t>×</a:t>
            </a:r>
            <a:r>
              <a:rPr sz="1250" b="0" i="0">
                <a:solidFill>
                  <a:srgbClr val="FFFFFF"/>
                </a:solidFill>
                <a:latin typeface="Pretendard ExtraBold"/>
                <a:ea typeface="Pretendard ExtraBold"/>
              </a:rPr>
              <a:t> 프리캔버스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00784"/>
            <a:ext cx="384048" cy="16459"/>
          </a:xfrm>
          <a:prstGeom prst="rect">
            <a:avLst/>
          </a:prstGeom>
          <a:solidFill>
            <a:srgbClr val="CD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6276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00">
                <a:solidFill>
                  <a:srgbClr val="CDB98A"/>
                </a:solidFill>
                <a:latin typeface="Pretendard ExtraBold"/>
                <a:ea typeface="Pretendard ExtraBold"/>
              </a:rPr>
              <a:t>온라인셀러를 위한 두 개의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5577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300" b="1" i="0">
                <a:solidFill>
                  <a:srgbClr val="FBF8EE"/>
                </a:solidFill>
                <a:latin typeface="Noto Serif KR"/>
                <a:ea typeface="Noto Serif KR"/>
              </a:rPr>
              <a:t>검색에 걸리고,</a:t>
            </a:r>
          </a:p>
          <a:p>
            <a:pPr algn="l">
              <a:lnSpc>
                <a:spcPct val="126000"/>
              </a:lnSpc>
            </a:pPr>
            <a:r>
              <a:rPr sz="3300" b="1" i="0">
                <a:solidFill>
                  <a:srgbClr val="FBF8EE"/>
                </a:solidFill>
                <a:latin typeface="Noto Serif KR"/>
                <a:ea typeface="Noto Serif KR"/>
              </a:rPr>
              <a:t>클릭이 </a:t>
            </a:r>
            <a:r>
              <a:rPr sz="3300" b="1" i="0">
                <a:solidFill>
                  <a:srgbClr val="CDB98A"/>
                </a:solidFill>
                <a:latin typeface="Noto Serif KR"/>
                <a:ea typeface="Noto Serif KR"/>
              </a:rPr>
              <a:t>구매</a:t>
            </a:r>
            <a:r>
              <a:rPr sz="3300" b="1" i="0">
                <a:solidFill>
                  <a:srgbClr val="FBF8EE"/>
                </a:solidFill>
                <a:latin typeface="Noto Serif KR"/>
                <a:ea typeface="Noto Serif KR"/>
              </a:rPr>
              <a:t>가</a:t>
            </a:r>
          </a:p>
          <a:p>
            <a:pPr algn="l">
              <a:lnSpc>
                <a:spcPct val="126000"/>
              </a:lnSpc>
            </a:pPr>
            <a:r>
              <a:rPr sz="3300" b="1" i="0">
                <a:solidFill>
                  <a:srgbClr val="FBF8EE"/>
                </a:solidFill>
                <a:latin typeface="Noto Serif KR"/>
                <a:ea typeface="Noto Serif KR"/>
              </a:rPr>
              <a:t>되는 곳까지.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CFDAD0"/>
                </a:solidFill>
                <a:latin typeface="Pretendard"/>
                <a:ea typeface="Pretendard"/>
              </a:rPr>
              <a:t>상품명부터 상세페이지·영상·카드뉴스까지 —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CFDAD0"/>
                </a:solidFill>
                <a:latin typeface="Pretendard"/>
                <a:ea typeface="Pretendard"/>
              </a:rPr>
              <a:t>여름 업데이트로 한층 깊어진 두 서비스를 소개합니다.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32120"/>
            <a:ext cx="192024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A7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9DFC2"/>
                </a:solidFill>
                <a:latin typeface="Pretendard SemiBold"/>
                <a:ea typeface="Pretendard SemiBold"/>
              </a:rPr>
              <a:t>유월 스무날 이후 새 기능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5532120"/>
            <a:ext cx="15087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A7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9DFC2"/>
                </a:solidFill>
                <a:latin typeface="Pretendard SemiBold"/>
                <a:ea typeface="Pretendard SemiBold"/>
              </a:rPr>
              <a:t>실제 화면으로 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777240"/>
            <a:ext cx="4572000" cy="1872685"/>
          </a:xfrm>
          <a:prstGeom prst="roundRect">
            <a:avLst>
              <a:gd name="adj" fmla="val 4470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76872" y="88239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00316" y="88239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88239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88352" y="845819"/>
            <a:ext cx="3886200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www.freecanvas.ai.kr — 프리캔버스</a:t>
            </a:r>
          </a:p>
        </p:txBody>
      </p:sp>
      <p:pic>
        <p:nvPicPr>
          <p:cNvPr id="18" name="Picture 17" descr="fc_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1051560"/>
            <a:ext cx="4544568" cy="1566361"/>
          </a:xfrm>
          <a:prstGeom prst="rect">
            <a:avLst/>
          </a:prstGeom>
          <a:effectLst/>
        </p:spPr>
      </p:pic>
      <p:sp>
        <p:nvSpPr>
          <p:cNvPr id="19" name="Rounded Rectangle 18"/>
          <p:cNvSpPr/>
          <p:nvPr/>
        </p:nvSpPr>
        <p:spPr>
          <a:xfrm>
            <a:off x="6355080" y="2834640"/>
            <a:ext cx="3977639" cy="3355884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3952" y="293979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97396" y="293979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20840" y="293979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85432" y="2903220"/>
            <a:ext cx="3291839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검색마스터 — 상품명 생성기</a:t>
            </a:r>
          </a:p>
        </p:txBody>
      </p:sp>
      <p:pic>
        <p:nvPicPr>
          <p:cNvPr id="24" name="Picture 23" descr="sm_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3108960"/>
            <a:ext cx="3950207" cy="304956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왜 두 개의 AI인가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1A2721"/>
                </a:solidFill>
                <a:latin typeface="Noto Serif KR"/>
                <a:ea typeface="Noto Serif KR"/>
              </a:rPr>
              <a:t>상품 하나를 팔려면,</a:t>
            </a:r>
          </a:p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1A2721"/>
                </a:solidFill>
                <a:latin typeface="Noto Serif KR"/>
                <a:ea typeface="Noto Serif KR"/>
              </a:rPr>
              <a:t>셀러는 </a:t>
            </a:r>
            <a:r>
              <a:rPr sz="2700" b="1" i="0">
                <a:solidFill>
                  <a:srgbClr val="0E5C4A"/>
                </a:solidFill>
                <a:latin typeface="Noto Serif KR"/>
                <a:ea typeface="Noto Serif KR"/>
              </a:rPr>
              <a:t>두 번</a:t>
            </a:r>
            <a:r>
              <a:rPr sz="2700" b="1" i="0">
                <a:solidFill>
                  <a:srgbClr val="1A2721"/>
                </a:solidFill>
                <a:latin typeface="Noto Serif KR"/>
                <a:ea typeface="Noto Serif KR"/>
              </a:rPr>
              <a:t> 이겨야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5074920" cy="2377440"/>
          </a:xfrm>
          <a:prstGeom prst="roundRect">
            <a:avLst>
              <a:gd name="adj" fmla="val 7000"/>
            </a:avLst>
          </a:prstGeom>
          <a:solidFill>
            <a:srgbClr val="F2F7F3"/>
          </a:solidFill>
          <a:ln w="9525">
            <a:solidFill>
              <a:srgbClr val="CFE3D7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10128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E5C4A"/>
                </a:solidFill>
                <a:latin typeface="Noto Serif KR"/>
                <a:ea typeface="Noto Serif KR"/>
              </a:rPr>
              <a:t>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041648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1A2721"/>
                </a:solidFill>
                <a:latin typeface="Noto Serif KR"/>
                <a:ea typeface="Noto Serif KR"/>
              </a:rPr>
              <a:t>발견의 승부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00" b="0" i="0">
                <a:solidFill>
                  <a:srgbClr val="5C6C5D"/>
                </a:solidFill>
                <a:latin typeface="Pretendard SemiBold"/>
                <a:ea typeface="Pretendard SemiBold"/>
              </a:rPr>
              <a:t>검색 결과에 노출되기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D4B43"/>
                </a:solidFill>
                <a:latin typeface="Pretendard"/>
                <a:ea typeface="Pretendard"/>
              </a:rPr>
              <a:t>고객이 검색창에 친 바로 그 말에 내 상품이 걸려야 합니다.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D4B43"/>
                </a:solidFill>
                <a:latin typeface="Pretendard"/>
                <a:ea typeface="Pretendard"/>
              </a:rPr>
              <a:t>이 싸움은 </a:t>
            </a:r>
            <a:r>
              <a:rPr sz="1150" b="0" i="0">
                <a:solidFill>
                  <a:srgbClr val="3D4B43"/>
                </a:solidFill>
                <a:latin typeface="Pretendard ExtraBold"/>
                <a:ea typeface="Pretendard ExtraBold"/>
              </a:rPr>
              <a:t>검색마스터</a:t>
            </a:r>
            <a:r>
              <a:rPr sz="1150" b="0" i="0">
                <a:solidFill>
                  <a:srgbClr val="3D4B43"/>
                </a:solidFill>
                <a:latin typeface="Pretendard"/>
                <a:ea typeface="Pretendard"/>
              </a:rPr>
              <a:t>가 맡습니다.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3063240"/>
            <a:ext cx="5074920" cy="2377440"/>
          </a:xfrm>
          <a:prstGeom prst="roundRect">
            <a:avLst>
              <a:gd name="adj" fmla="val 7000"/>
            </a:avLst>
          </a:prstGeom>
          <a:solidFill>
            <a:srgbClr val="FFFDF7"/>
          </a:solidFill>
          <a:ln w="9525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3310128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8A6A33"/>
                </a:solidFill>
                <a:latin typeface="Noto Serif KR"/>
                <a:ea typeface="Noto Serif KR"/>
              </a:rPr>
              <a:t>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4041648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1A2721"/>
                </a:solidFill>
                <a:latin typeface="Noto Serif KR"/>
                <a:ea typeface="Noto Serif KR"/>
              </a:rPr>
              <a:t>설득의 승부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00" b="0" i="0">
                <a:solidFill>
                  <a:srgbClr val="5C6C5D"/>
                </a:solidFill>
                <a:latin typeface="Pretendard SemiBold"/>
                <a:ea typeface="Pretendard SemiBold"/>
              </a:rPr>
              <a:t>클릭을 구매로 바꾸기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D4B43"/>
                </a:solidFill>
                <a:latin typeface="Pretendard"/>
                <a:ea typeface="Pretendard"/>
              </a:rPr>
              <a:t>들어온 고객이 스크롤을 내리다 결제 버튼을 누르게 해야 합니다.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D4B43"/>
                </a:solidFill>
                <a:latin typeface="Pretendard"/>
                <a:ea typeface="Pretendard"/>
              </a:rPr>
              <a:t>이 싸움은 </a:t>
            </a:r>
            <a:r>
              <a:rPr sz="1150" b="0" i="0">
                <a:solidFill>
                  <a:srgbClr val="3D4B43"/>
                </a:solidFill>
                <a:latin typeface="Pretendard ExtraBold"/>
                <a:ea typeface="Pretendard ExtraBold"/>
              </a:rPr>
              <a:t>프리캔버스</a:t>
            </a:r>
            <a:r>
              <a:rPr sz="1150" b="0" i="0">
                <a:solidFill>
                  <a:srgbClr val="3D4B43"/>
                </a:solidFill>
                <a:latin typeface="Pretendard"/>
                <a:ea typeface="Pretendard"/>
              </a:rPr>
              <a:t>가 맡습니다.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76072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D4B43"/>
                </a:solidFill>
                <a:latin typeface="Pretendard"/>
                <a:ea typeface="Pretendard"/>
              </a:rPr>
              <a:t>아무리 좋은 물건도 </a:t>
            </a:r>
            <a:r>
              <a:rPr sz="1250" b="0" i="0">
                <a:solidFill>
                  <a:srgbClr val="3D4B43"/>
                </a:solidFill>
                <a:latin typeface="Pretendard ExtraBold"/>
                <a:ea typeface="Pretendard ExtraBold"/>
              </a:rPr>
              <a:t>안 보이면</a:t>
            </a:r>
            <a:r>
              <a:rPr sz="1250" b="0" i="0">
                <a:solidFill>
                  <a:srgbClr val="3D4B43"/>
                </a:solidFill>
                <a:latin typeface="Pretendard"/>
                <a:ea typeface="Pretendard"/>
              </a:rPr>
              <a:t> 없는 상품이고, </a:t>
            </a:r>
            <a:r>
              <a:rPr sz="1250" b="0" i="0">
                <a:solidFill>
                  <a:srgbClr val="3D4B43"/>
                </a:solidFill>
                <a:latin typeface="Pretendard ExtraBold"/>
                <a:ea typeface="Pretendard ExtraBold"/>
              </a:rPr>
              <a:t>안 사고 싶으면</a:t>
            </a:r>
            <a:r>
              <a:rPr sz="1250" b="0" i="0">
                <a:solidFill>
                  <a:srgbClr val="3D4B43"/>
                </a:solidFill>
                <a:latin typeface="Pretendard"/>
                <a:ea typeface="Pretendard"/>
              </a:rPr>
              <a:t> 스쳐 가는 상품입니다.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검색마스터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× 프리캔버스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1A2721"/>
                </a:solidFill>
                <a:latin typeface="Noto Serif KR"/>
                <a:ea typeface="Noto Serif KR"/>
              </a:rPr>
              <a:t>따로 노는 두 앱이 아니라,</a:t>
            </a:r>
          </a:p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0E5C4A"/>
                </a:solidFill>
                <a:latin typeface="Noto Serif KR"/>
                <a:ea typeface="Noto Serif KR"/>
              </a:rPr>
              <a:t>이어지는 한 벌</a:t>
            </a:r>
            <a:r>
              <a:rPr sz="2700" b="1" i="0">
                <a:solidFill>
                  <a:srgbClr val="1A2721"/>
                </a:solidFill>
                <a:latin typeface="Noto Serif KR"/>
                <a:ea typeface="Noto Serif KR"/>
              </a:rPr>
              <a:t>의 도구입니다.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4572000" cy="1945614"/>
          </a:xfrm>
          <a:prstGeom prst="roundRect">
            <a:avLst>
              <a:gd name="adj" fmla="val 4300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307695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5276" y="307695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307695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53312" y="3040380"/>
            <a:ext cx="3886200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검색마스터 — 상품명 생성기</a:t>
            </a:r>
          </a:p>
        </p:txBody>
      </p:sp>
      <p:pic>
        <p:nvPicPr>
          <p:cNvPr id="11" name="Picture 10" descr="sm_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3246120"/>
            <a:ext cx="4544568" cy="1639291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434840" y="33558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실제 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338328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A98449"/>
                </a:solidFill>
                <a:latin typeface="Pretendard"/>
                <a:ea typeface="Pretendard"/>
              </a:rPr>
              <a:t>→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6A33"/>
                </a:solidFill>
                <a:latin typeface="Pretendard ExtraBold"/>
                <a:ea typeface="Pretendard ExtraBold"/>
              </a:rPr>
              <a:t>같은 상품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6A33"/>
                </a:solidFill>
                <a:latin typeface="Pretendard ExtraBold"/>
                <a:ea typeface="Pretendard ExtraBold"/>
              </a:rPr>
              <a:t>같은 구글 계정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108960"/>
            <a:ext cx="4572000" cy="1493971"/>
          </a:xfrm>
          <a:prstGeom prst="roundRect">
            <a:avLst>
              <a:gd name="adj" fmla="val 5629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31152" y="321411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4596" y="321411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78040" y="321411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42631" y="3177540"/>
            <a:ext cx="3886200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www.freecanvas.ai.kr</a:t>
            </a:r>
          </a:p>
        </p:txBody>
      </p:sp>
      <p:pic>
        <p:nvPicPr>
          <p:cNvPr id="19" name="Picture 18" descr="fc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996" y="3383279"/>
            <a:ext cx="4544568" cy="1187647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10424159" y="34930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실제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40680"/>
            <a:ext cx="9235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50" b="0" i="0">
                <a:solidFill>
                  <a:srgbClr val="3D4B43"/>
                </a:solidFill>
                <a:latin typeface="Pretendard ExtraBold"/>
                <a:ea typeface="Pretendard ExtraBold"/>
              </a:rPr>
              <a:t>검색마스터</a:t>
            </a:r>
            <a:r>
              <a:rPr sz="1250" b="0" i="0">
                <a:solidFill>
                  <a:srgbClr val="3D4B43"/>
                </a:solidFill>
                <a:latin typeface="Pretendard"/>
                <a:ea typeface="Pretendard"/>
              </a:rPr>
              <a:t>가 </a:t>
            </a:r>
            <a:r>
              <a:rPr sz="1250" b="0" i="0">
                <a:solidFill>
                  <a:srgbClr val="3D4B43"/>
                </a:solidFill>
                <a:latin typeface="Pretendard ExtraBold"/>
                <a:ea typeface="Pretendard ExtraBold"/>
              </a:rPr>
              <a:t>이름</a:t>
            </a:r>
            <a:r>
              <a:rPr sz="1250" b="0" i="0">
                <a:solidFill>
                  <a:srgbClr val="3D4B43"/>
                </a:solidFill>
                <a:latin typeface="Pretendard"/>
                <a:ea typeface="Pretendard"/>
              </a:rPr>
              <a:t>을 짓고, </a:t>
            </a:r>
            <a:r>
              <a:rPr sz="1250" b="0" i="0">
                <a:solidFill>
                  <a:srgbClr val="3D4B43"/>
                </a:solidFill>
                <a:latin typeface="Pretendard ExtraBold"/>
                <a:ea typeface="Pretendard ExtraBold"/>
              </a:rPr>
              <a:t>프리캔버스</a:t>
            </a:r>
            <a:r>
              <a:rPr sz="1250" b="0" i="0">
                <a:solidFill>
                  <a:srgbClr val="3D4B43"/>
                </a:solidFill>
                <a:latin typeface="Pretendard"/>
                <a:ea typeface="Pretendard"/>
              </a:rPr>
              <a:t>가 </a:t>
            </a:r>
            <a:r>
              <a:rPr sz="1250" b="0" i="0">
                <a:solidFill>
                  <a:srgbClr val="3D4B43"/>
                </a:solidFill>
                <a:latin typeface="Pretendard ExtraBold"/>
                <a:ea typeface="Pretendard ExtraBold"/>
              </a:rPr>
              <a:t>모습</a:t>
            </a:r>
            <a:r>
              <a:rPr sz="1250" b="0" i="0">
                <a:solidFill>
                  <a:srgbClr val="3D4B43"/>
                </a:solidFill>
                <a:latin typeface="Pretendard"/>
                <a:ea typeface="Pretendard"/>
              </a:rPr>
              <a:t>을 만듭니다.</a:t>
            </a:r>
          </a:p>
          <a:p>
            <a:pPr algn="ctr">
              <a:lnSpc>
                <a:spcPct val="150000"/>
              </a:lnSpc>
            </a:pPr>
            <a:r>
              <a:rPr sz="1250" b="0" i="0">
                <a:solidFill>
                  <a:srgbClr val="3D4B43"/>
                </a:solidFill>
                <a:latin typeface="Pretendard"/>
                <a:ea typeface="Pretendard"/>
              </a:rPr>
              <a:t>오늘은 </a:t>
            </a:r>
            <a:r>
              <a:rPr sz="1250" b="0" i="0">
                <a:solidFill>
                  <a:srgbClr val="8A6A33"/>
                </a:solidFill>
                <a:latin typeface="Pretendard ExtraBold"/>
                <a:ea typeface="Pretendard ExtraBold"/>
              </a:rPr>
              <a:t>유월 스무날 이후 새로 생긴 것들</a:t>
            </a:r>
            <a:r>
              <a:rPr sz="1250" b="0" i="0">
                <a:solidFill>
                  <a:srgbClr val="3D4B43"/>
                </a:solidFill>
                <a:latin typeface="Pretendard"/>
                <a:ea typeface="Pretendard"/>
              </a:rPr>
              <a:t>을 실제 화면으로 보여드립니다.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검색마스터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× 프리캔버스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7EE"/>
              </a:gs>
              <a:gs pos="100000">
                <a:srgbClr val="F0ECDF"/>
              </a:gs>
            </a:gsLst>
            <a:lin scaled="0" ang="12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737360"/>
            <a:ext cx="30175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0" i="1">
                <a:solidFill>
                  <a:srgbClr val="E5D7BA"/>
                </a:solidFill>
                <a:latin typeface="Cormorant Garamond"/>
                <a:ea typeface="Cormorant Garamon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949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200" b="0" i="0" spc="380">
                <a:solidFill>
                  <a:srgbClr val="8A6A33"/>
                </a:solidFill>
                <a:latin typeface="Pretendard ExtraBold"/>
                <a:ea typeface="Pretendard ExtraBold"/>
              </a:rPr>
              <a:t>제 일 장</a:t>
            </a:r>
          </a:p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1A2721"/>
                </a:solidFill>
                <a:latin typeface="Noto Serif KR"/>
                <a:ea typeface="Noto Serif KR"/>
              </a:rPr>
              <a:t>검색에 걸리는</a:t>
            </a:r>
          </a:p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1A2721"/>
                </a:solidFill>
                <a:latin typeface="Noto Serif KR"/>
                <a:ea typeface="Noto Serif KR"/>
              </a:rPr>
              <a:t>이름 짓기</a:t>
            </a:r>
          </a:p>
          <a:p>
            <a:pPr algn="l">
              <a:lnSpc>
                <a:spcPct val="140000"/>
              </a:lnSpc>
              <a:spcBef>
                <a:spcPts val="1500"/>
              </a:spcBef>
            </a:pPr>
            <a:r>
              <a:rPr sz="1300" b="0" i="0">
                <a:solidFill>
                  <a:srgbClr val="3D4B43"/>
                </a:solidFill>
                <a:latin typeface="Pretendard"/>
                <a:ea typeface="Pretendard"/>
              </a:rPr>
              <a:t>검색마스터 — 사진 한 장과 설명 몇 줄로, 노출되는 상품명을 완성합니다.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검색마스터 — 새로워진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이제 </a:t>
            </a:r>
            <a:r>
              <a:rPr sz="2200" b="1" i="0">
                <a:solidFill>
                  <a:srgbClr val="0E5C4A"/>
                </a:solidFill>
                <a:latin typeface="Noto Serif KR"/>
                <a:ea typeface="Noto Serif KR"/>
              </a:rPr>
              <a:t>사진과 설명을</a:t>
            </a:r>
          </a:p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0E5C4A"/>
                </a:solidFill>
                <a:latin typeface="Noto Serif KR"/>
                <a:ea typeface="Noto Serif KR"/>
              </a:rPr>
              <a:t>함께</a:t>
            </a: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 읽습니다.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871216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실제 상품·용도 설명 입력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“책상 위에 놓는 무선 충전 겸용 스탠드”처럼 한 줄만 보태면, 사진만으로 놓치던 재질·용도까지 상품명에 정확히 담깁니다.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77056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59352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950208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판매 채널별 이름 전략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네이버쇼핑은 검색 노출 폭, 쿠팡은 구매 판단 키워드, 일반몰은 가독성 — 채널을 고르면 그 문법대로 짓습니다.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56048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38344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5029200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기다림 없는 화면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사진을 올리면 바로 보이고, 만드는 동안 진행 상태가 또렷하게 표시됩니다.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70432"/>
            <a:ext cx="4343400" cy="3638251"/>
          </a:xfrm>
          <a:prstGeom prst="roundRect">
            <a:avLst>
              <a:gd name="adj" fmla="val 2282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275588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5955" y="1275588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1275588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93992" y="1239012"/>
            <a:ext cx="3657600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검색마스터 — 생성 작업</a:t>
            </a:r>
          </a:p>
        </p:txBody>
      </p:sp>
      <p:pic>
        <p:nvPicPr>
          <p:cNvPr id="19" name="Picture 18" descr="sm_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5" y="1444752"/>
            <a:ext cx="4315968" cy="3331927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9646919" y="155448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실제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918411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사진 · 판매 채널 · 상품 설명 · 보강 키워드 — 한 화면에서 끝납니다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검색마스터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— 검색에 걸리는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7EE"/>
              </a:gs>
              <a:gs pos="100000">
                <a:srgbClr val="F0ECDF"/>
              </a:gs>
            </a:gsLst>
            <a:lin scaled="0" ang="12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737360"/>
            <a:ext cx="30175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0" i="1">
                <a:solidFill>
                  <a:srgbClr val="E5D7BA"/>
                </a:solidFill>
                <a:latin typeface="Cormorant Garamond"/>
                <a:ea typeface="Cormorant Garamon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949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200" b="0" i="0" spc="380">
                <a:solidFill>
                  <a:srgbClr val="8A6A33"/>
                </a:solidFill>
                <a:latin typeface="Pretendard ExtraBold"/>
                <a:ea typeface="Pretendard ExtraBold"/>
              </a:rPr>
              <a:t>제 이 장</a:t>
            </a:r>
          </a:p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1A2721"/>
                </a:solidFill>
                <a:latin typeface="Noto Serif KR"/>
                <a:ea typeface="Noto Serif KR"/>
              </a:rPr>
              <a:t>사고 싶게 만드는</a:t>
            </a:r>
          </a:p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1A2721"/>
                </a:solidFill>
                <a:latin typeface="Noto Serif KR"/>
                <a:ea typeface="Noto Serif KR"/>
              </a:rPr>
              <a:t>콘텐츠 공방</a:t>
            </a:r>
          </a:p>
          <a:p>
            <a:pPr algn="l">
              <a:lnSpc>
                <a:spcPct val="140000"/>
              </a:lnSpc>
              <a:spcBef>
                <a:spcPts val="1500"/>
              </a:spcBef>
            </a:pPr>
            <a:r>
              <a:rPr sz="1300" b="0" i="0">
                <a:solidFill>
                  <a:srgbClr val="3D4B43"/>
                </a:solidFill>
                <a:latin typeface="Pretendard"/>
                <a:ea typeface="Pretendard"/>
              </a:rPr>
              <a:t>프리캔버스 — 소싱한 재료가 상세페이지·영상·카드뉴스가 되기까지, 손이 갈 일을 줄였습니다.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 — 첫 화면부터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2721"/>
                </a:solidFill>
                <a:latin typeface="Noto Serif KR"/>
                <a:ea typeface="Noto Serif KR"/>
              </a:rPr>
              <a:t>들어서면 </a:t>
            </a:r>
            <a:r>
              <a:rPr sz="2300" b="1" i="0">
                <a:solidFill>
                  <a:srgbClr val="0E5C4A"/>
                </a:solidFill>
                <a:latin typeface="Noto Serif KR"/>
                <a:ea typeface="Noto Serif KR"/>
              </a:rPr>
              <a:t>세 개의 작업실</a:t>
            </a:r>
            <a:r>
              <a:rPr sz="2300" b="1" i="0">
                <a:solidFill>
                  <a:srgbClr val="1A2721"/>
                </a:solidFill>
                <a:latin typeface="Noto Serif KR"/>
                <a:ea typeface="Noto Serif KR"/>
              </a:rPr>
              <a:t>이 기다립니다.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0543032" cy="1589227"/>
          </a:xfrm>
          <a:prstGeom prst="roundRect">
            <a:avLst>
              <a:gd name="adj" fmla="val 5284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70535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5276" y="170535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170535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53312" y="1668780"/>
            <a:ext cx="9857232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www.freecanvas.ai.kr — 작업 선택</a:t>
            </a:r>
          </a:p>
        </p:txBody>
      </p:sp>
      <p:pic>
        <p:nvPicPr>
          <p:cNvPr id="11" name="Picture 10" descr="fc_mo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74519"/>
            <a:ext cx="10515600" cy="1282903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10405872" y="19842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실제 화면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09467"/>
            <a:ext cx="29260" cy="566928"/>
          </a:xfrm>
          <a:prstGeom prst="rect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82035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1A2721"/>
                </a:solidFill>
                <a:latin typeface="Pretendard ExtraBold"/>
                <a:ea typeface="Pretendard ExtraBold"/>
              </a:rPr>
              <a:t>새 상세페이지 만들기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제품 사진과 정보만 넣으면 상세페이지를 처음부터 지어줍니다.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59275"/>
            <a:ext cx="29260" cy="566928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31843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1A2721"/>
                </a:solidFill>
                <a:latin typeface="Pretendard ExtraBold"/>
                <a:ea typeface="Pretendard ExtraBold"/>
              </a:rPr>
              <a:t>기존 상세페이지 편집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이미 있는 상세 캡처를 블록으로 풀어 바로 손질합니다.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09083"/>
            <a:ext cx="29260" cy="566928"/>
          </a:xfrm>
          <a:prstGeom prst="rect">
            <a:avLst/>
          </a:prstGeom>
          <a:solidFill>
            <a:srgbClr val="1A2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981651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1A2721"/>
                </a:solidFill>
                <a:latin typeface="Pretendard ExtraBold"/>
                <a:ea typeface="Pretendard ExtraBold"/>
              </a:rPr>
              <a:t>1688 영상 번역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중국 상품 영상을 한국어 자막·더빙 영상으로 바꿉니다.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86323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D4B43"/>
                </a:solidFill>
                <a:latin typeface="Pretendard"/>
                <a:ea typeface="Pretendard"/>
              </a:rPr>
              <a:t>결과물도 다섯 갈래 — 일반·의류·과일채소 상세페이지에 </a:t>
            </a:r>
            <a:r>
              <a:rPr sz="1100" b="0" i="0">
                <a:solidFill>
                  <a:srgbClr val="3D4B43"/>
                </a:solidFill>
                <a:latin typeface="Pretendard ExtraBold"/>
                <a:ea typeface="Pretendard ExtraBold"/>
              </a:rPr>
              <a:t>카드뉴스</a:t>
            </a:r>
            <a:r>
              <a:rPr sz="1100" b="0" i="0">
                <a:solidFill>
                  <a:srgbClr val="3D4B43"/>
                </a:solidFill>
                <a:latin typeface="Pretendard"/>
                <a:ea typeface="Pretendard"/>
              </a:rPr>
              <a:t>와 </a:t>
            </a:r>
            <a:r>
              <a:rPr sz="1100" b="0" i="0">
                <a:solidFill>
                  <a:srgbClr val="3D4B43"/>
                </a:solidFill>
                <a:latin typeface="Pretendard ExtraBold"/>
                <a:ea typeface="Pretendard ExtraBold"/>
              </a:rPr>
              <a:t>상품 썸네일</a:t>
            </a:r>
            <a:r>
              <a:rPr sz="1100" b="0" i="0">
                <a:solidFill>
                  <a:srgbClr val="3D4B43"/>
                </a:solidFill>
                <a:latin typeface="Pretendard"/>
                <a:ea typeface="Pretendard"/>
              </a:rPr>
              <a:t>까지 한 곳에서 나옵니다.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27755"/>
            <a:ext cx="1783080" cy="2741331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11312" y="3632911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34756" y="3632911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58200" y="3632911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22792" y="3596335"/>
            <a:ext cx="1097280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결과물 고르기</a:t>
            </a:r>
          </a:p>
        </p:txBody>
      </p:sp>
      <p:pic>
        <p:nvPicPr>
          <p:cNvPr id="25" name="Picture 24" descr="fc_ty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56" y="3802075"/>
            <a:ext cx="1755648" cy="2435007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— 콘텐츠 공방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 — 새 기능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소싱 링크를 붙여넣으면</a:t>
            </a:r>
          </a:p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0E5C4A"/>
                </a:solidFill>
                <a:latin typeface="Noto Serif KR"/>
                <a:ea typeface="Noto Serif KR"/>
              </a:rPr>
              <a:t>재료가 알아서</a:t>
            </a: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 담깁니다.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871216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스마트스토어·1688 링크 불러오기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상품 주소만 붙여넣으면 작은 새 창이 열려 상세 내용과 상품 이미지를 통째로 가져옵니다. 가격 정보는 알아서 뺍니다.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77056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59352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950208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확장 프로그램 한 번 설치로 끝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웹스토어 단추와 설치법 안내가 화면 안에 있어, 처음 한 번만 따라 하면 다음부터는 붙여넣기만 하면 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56048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38344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5029200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중국어 정리까지 자동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1688에서 가져온 문구의 중국어와 군더더기 값을 한국어 기준으로 다듬어 줍니다.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4892040" cy="2981858"/>
          </a:xfrm>
          <a:prstGeom prst="roundRect">
            <a:avLst>
              <a:gd name="adj" fmla="val 2789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88823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5955" y="188823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188823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93992" y="1851660"/>
            <a:ext cx="4206240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상품 링크로 빠른 시작</a:t>
            </a:r>
          </a:p>
        </p:txBody>
      </p:sp>
      <p:pic>
        <p:nvPicPr>
          <p:cNvPr id="19" name="Picture 18" descr="fc_li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5" y="2057400"/>
            <a:ext cx="4864607" cy="2675534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10195559" y="216712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실제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874666"/>
            <a:ext cx="54406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스마트스토어 링크와 1688 링크, 각각 “불러오기” 한 번이면 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— 소싱이 곧 재료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 — 새 기능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중국어 상품 영상이</a:t>
            </a:r>
          </a:p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0E5C4A"/>
                </a:solidFill>
                <a:latin typeface="Noto Serif KR"/>
                <a:ea typeface="Noto Serif KR"/>
              </a:rPr>
              <a:t>한국어 콘텐츠</a:t>
            </a: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가 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871216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중국어 자막 지우고, 한국어 자막 입히기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영상 속 중국어 문구 자리를 찾아 지우고 그 자리에 자연스러운 한국어 자막을 얹습니다.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77056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59352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950208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한국어 음성 더빙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자막에 맞춰 우리말 음성까지 입혀, 소리 켜고 보는 영상으로 완성합니다.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56048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38344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5029200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세로 영상으로 저장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쇼츠·릴스에 바로 올리는 세로 화면 비율로 저장하고, 자막 파일도 함께 나옵니다.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4983480" cy="2675314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97967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5955" y="197967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197967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93992" y="1943100"/>
            <a:ext cx="4297680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1688 영상 번역 작업실</a:t>
            </a:r>
          </a:p>
        </p:txBody>
      </p:sp>
      <p:pic>
        <p:nvPicPr>
          <p:cNvPr id="19" name="Picture 18" descr="fc_16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5" y="2148839"/>
            <a:ext cx="4956048" cy="2368991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10287000" y="225856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실제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659562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영상 후보 탐색부터 한국어 자막 생성·저장까지 한 작업실에서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— 영상까지 우리말로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 — 새 기능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긴 상세페이지도</a:t>
            </a:r>
          </a:p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0E5C4A"/>
                </a:solidFill>
                <a:latin typeface="Noto Serif KR"/>
                <a:ea typeface="Noto Serif KR"/>
              </a:rPr>
              <a:t>블록으로 풀어</a:t>
            </a: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 고칩니다.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871216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캡처 한 장이 편집 블록으로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길게 이어진 상세 이미지를 내용 경계에 맞춰 이미지 블록과 글 블록으로 자동 분해합니다.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77056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59352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950208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자른 경계는 끌어서 조정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나뉜 위치가 아쉬우면 경계선을 마우스로 끌어 원하는 지점에서 다시 자릅니다.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56048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38344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5029200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그림 속 글자도 고쳐 쓰기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이미지 안 문구를 골라 내용을 바꾸고 글꼴을 고르면, 고른 글꼴 그대로 다시 그려냅니다.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4983480" cy="2675314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97967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5955" y="197967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197967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93992" y="1943100"/>
            <a:ext cx="4297680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기존 상세페이지 편집 작업실</a:t>
            </a:r>
          </a:p>
        </p:txBody>
      </p:sp>
      <p:pic>
        <p:nvPicPr>
          <p:cNvPr id="19" name="Picture 18" descr="fc_ed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5" y="2148839"/>
            <a:ext cx="4956048" cy="2368991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10287000" y="225856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실제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659562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캡처를 올리면 이미지·텍스트 블록으로 정리되어 바로 수정합니다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— 있는 상세도 내 것으로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 — 새 기능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홍보용 </a:t>
            </a:r>
            <a:r>
              <a:rPr sz="2200" b="1" i="0">
                <a:solidFill>
                  <a:srgbClr val="0E5C4A"/>
                </a:solidFill>
                <a:latin typeface="Noto Serif KR"/>
                <a:ea typeface="Noto Serif KR"/>
              </a:rPr>
              <a:t>카드뉴스</a:t>
            </a: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는</a:t>
            </a:r>
          </a:p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사진이 없어도 나옵니다.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871216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줄거리만 적으면 여러 장이 한 번에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주제와 하고 싶은 말을 적으면, 넘겨보는 카드 여러 장이 처음부터 끝까지 한 호흡으로 만들어집니다.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77056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59352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950208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모든 장의 결이 같게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색·글꼴·판짜임을 먼저 정해두고 그리기 때문에, 장마다 따로 노는 일이 없습니다.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56048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38344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5029200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사진 없이도, 참고만 시켜도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상품 사진이 아직 없으면 글만으로, 분위기만 빌리고 싶으면 참고용으로만 — 쓰임에 맞춥니다.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4206240" cy="31065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79679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5955" y="179679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179679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93992" y="1760220"/>
            <a:ext cx="3520439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카드뉴스 만들기 안내</a:t>
            </a:r>
          </a:p>
        </p:txBody>
      </p:sp>
      <p:pic>
        <p:nvPicPr>
          <p:cNvPr id="19" name="Picture 18" descr="fc_cardnew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5" y="1965960"/>
            <a:ext cx="4178807" cy="2800231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9509759" y="207568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실제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907924"/>
            <a:ext cx="4754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“카드뉴스는 사진 없이도 생성할 수 있습니다” — 화면 속 안내 그대로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— 알리는 일까지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 — 새 기능 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지우고 싶은 곳만</a:t>
            </a:r>
          </a:p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0E5C4A"/>
                </a:solidFill>
                <a:latin typeface="Noto Serif KR"/>
                <a:ea typeface="Noto Serif KR"/>
              </a:rPr>
              <a:t>칠하면 사라집니다.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871216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소싱 이미지의 티끌 정리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박혀 있는 워터마크, 중국어 글자, 거슬리는 배경 — 붓으로 칠한 자리만 감쪽같이 지워집니다.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77056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59352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950208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내 컴퓨터 안에서 즉시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편집 화면 안에서 곧바로 지워져, 기다리거나 다른 도구로 오갈 필요가 없습니다.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56048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38344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5029200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붓 하나로 끝나는 조작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복잡한 설정을 들어냈습니다. 문지르면 지워진다 — 그게 전부입니다.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68880"/>
            <a:ext cx="2377440" cy="17830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33453D"/>
              </a:gs>
              <a:gs pos="100000">
                <a:srgbClr val="14523F"/>
              </a:gs>
            </a:gsLst>
            <a:lin scaled="0" ang="13200000"/>
          </a:gradFill>
          <a:ln>
            <a:noFill/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629400" y="3063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spc="280">
                <a:solidFill>
                  <a:srgbClr val="8DA096"/>
                </a:solidFill>
                <a:latin typeface="Pretendard ExtraBold"/>
                <a:ea typeface="Pretendard ExtraBold"/>
              </a:rPr>
              <a:t>워터마크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926080"/>
            <a:ext cx="1645920" cy="685800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DDE8E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65392" y="39136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2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지우기 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468880"/>
            <a:ext cx="2377440" cy="17830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22A186"/>
              </a:gs>
              <a:gs pos="100000">
                <a:srgbClr val="0E5C4A"/>
              </a:gs>
            </a:gsLst>
            <a:lin scaled="0" ang="13200000"/>
          </a:gradFill>
          <a:ln>
            <a:noFill/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0" y="274320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Pretendard"/>
                <a:ea typeface="Pretendard"/>
              </a:rPr>
              <a:t>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71432" y="39136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A463A"/>
                </a:solidFill>
                <a:latin typeface="Pretendard SemiBold"/>
                <a:ea typeface="Pretendard SemiBold"/>
              </a:rPr>
              <a:t>지운 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80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칠한 자리만 지워지고, 상품은 그대로 남습니다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— 소싱 이미지를 내 것으로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 — 처음이어도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화면이 </a:t>
            </a:r>
            <a:r>
              <a:rPr sz="2200" b="1" i="0">
                <a:solidFill>
                  <a:srgbClr val="0E5C4A"/>
                </a:solidFill>
                <a:latin typeface="Noto Serif KR"/>
                <a:ea typeface="Noto Serif KR"/>
              </a:rPr>
              <a:t>손을 잡고</a:t>
            </a:r>
          </a:p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1A2721"/>
                </a:solidFill>
                <a:latin typeface="Noto Serif KR"/>
                <a:ea typeface="Noto Serif KR"/>
              </a:rPr>
              <a:t>차례로 안내합니다.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871216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결과물마다 다른 안내 순서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일반·의류·과일채소·카드뉴스·썸네일 — 만들려는 것에 맞는 안내가 따로 준비되어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77056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59352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950208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열 걸음짜리 친절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사진 올리기부터 저장까지, 화면 위에서 한 걸음씩 짚어 주니 헤맬 틈이 없습니다.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56048"/>
            <a:ext cx="4846320" cy="10972"/>
          </a:xfrm>
          <a:prstGeom prst="rect">
            <a:avLst/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38344"/>
            <a:ext cx="658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A33"/>
                </a:solidFill>
                <a:latin typeface="Noto Serif KR"/>
                <a:ea typeface="Noto Serif KR"/>
              </a:rPr>
              <a:t>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5029200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A2721"/>
                </a:solidFill>
                <a:latin typeface="Pretendard ExtraBold"/>
                <a:ea typeface="Pretendard ExtraBold"/>
              </a:rPr>
              <a:t>언제든 다시 열어보기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첫 화면의 “사용법 보기” 하나면 언제든 처음부터 다시 안내를 받을 수 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3657600" cy="3519231"/>
          </a:xfrm>
          <a:prstGeom prst="roundRect">
            <a:avLst>
              <a:gd name="adj" fmla="val 2359"/>
            </a:avLst>
          </a:prstGeom>
          <a:solidFill>
            <a:srgbClr val="FFFFFF"/>
          </a:solidFill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2512" y="1476756"/>
            <a:ext cx="68580" cy="68580"/>
          </a:xfrm>
          <a:prstGeom prst="ellipse">
            <a:avLst/>
          </a:prstGeom>
          <a:solidFill>
            <a:srgbClr val="E8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5955" y="1476756"/>
            <a:ext cx="68580" cy="68580"/>
          </a:xfrm>
          <a:prstGeom prst="ellipse">
            <a:avLst/>
          </a:prstGeom>
          <a:solidFill>
            <a:srgbClr val="E6C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1476756"/>
            <a:ext cx="68580" cy="68580"/>
          </a:xfrm>
          <a:prstGeom prst="ellipse">
            <a:avLst/>
          </a:prstGeom>
          <a:solidFill>
            <a:srgbClr val="B5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93992" y="1440180"/>
            <a:ext cx="2971800" cy="141732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635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C6C5D"/>
                </a:solidFill>
                <a:latin typeface="Pretendard"/>
                <a:ea typeface="Pretendard"/>
              </a:rPr>
              <a:t>사용법 안내 — 첫 걸음</a:t>
            </a:r>
          </a:p>
        </p:txBody>
      </p:sp>
      <p:pic>
        <p:nvPicPr>
          <p:cNvPr id="19" name="Picture 18" descr="fc_gu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5" y="1645920"/>
            <a:ext cx="3630168" cy="3212907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8961119" y="17556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Pretendard SemiBold"/>
                <a:ea typeface="Pretendard SemiBold"/>
              </a:rPr>
              <a:t>실제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000559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제품 사진 올리기부터 열 단계 — 안내 그대로 따라가면 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— 배우는 시간 없이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7EE"/>
              </a:gs>
              <a:gs pos="100000">
                <a:srgbClr val="F0ECDF"/>
              </a:gs>
            </a:gsLst>
            <a:lin scaled="0" ang="12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737360"/>
            <a:ext cx="30175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0" i="1">
                <a:solidFill>
                  <a:srgbClr val="E5D7BA"/>
                </a:solidFill>
                <a:latin typeface="Cormorant Garamond"/>
                <a:ea typeface="Cormorant Garamond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949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200" b="0" i="0" spc="380">
                <a:solidFill>
                  <a:srgbClr val="8A6A33"/>
                </a:solidFill>
                <a:latin typeface="Pretendard ExtraBold"/>
                <a:ea typeface="Pretendard ExtraBold"/>
              </a:rPr>
              <a:t>제 삼 장</a:t>
            </a:r>
          </a:p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1A2721"/>
                </a:solidFill>
                <a:latin typeface="Noto Serif KR"/>
                <a:ea typeface="Noto Serif KR"/>
              </a:rPr>
              <a:t>둘이 하나로</a:t>
            </a:r>
          </a:p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1A2721"/>
                </a:solidFill>
                <a:latin typeface="Noto Serif KR"/>
                <a:ea typeface="Noto Serif KR"/>
              </a:rPr>
              <a:t>이어지는 순간</a:t>
            </a:r>
          </a:p>
          <a:p>
            <a:pPr algn="l">
              <a:lnSpc>
                <a:spcPct val="140000"/>
              </a:lnSpc>
              <a:spcBef>
                <a:spcPts val="1500"/>
              </a:spcBef>
            </a:pPr>
            <a:r>
              <a:rPr sz="1300" b="0" i="0">
                <a:solidFill>
                  <a:srgbClr val="3D4B43"/>
                </a:solidFill>
                <a:latin typeface="Pretendard"/>
                <a:ea typeface="Pretendard"/>
              </a:rPr>
              <a:t>같은 구글 계정, 같은 상품 — 화면 안 단추 하나로 두 서비스가 맞물립니다.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이번 여름의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1A2721"/>
                </a:solidFill>
                <a:latin typeface="Noto Serif KR"/>
                <a:ea typeface="Noto Serif KR"/>
              </a:rPr>
              <a:t>프리캔버스 첫 줄에 </a:t>
            </a:r>
            <a:r>
              <a:rPr sz="2300" b="1" i="0">
                <a:solidFill>
                  <a:srgbClr val="0E5C4A"/>
                </a:solidFill>
                <a:latin typeface="Noto Serif KR"/>
                <a:ea typeface="Noto Serif KR"/>
              </a:rPr>
              <a:t>검색마스터</a:t>
            </a:r>
            <a:r>
              <a:rPr sz="2300" b="1" i="0">
                <a:solidFill>
                  <a:srgbClr val="1A2721"/>
                </a:solidFill>
                <a:latin typeface="Noto Serif KR"/>
                <a:ea typeface="Noto Serif KR"/>
              </a:rPr>
              <a:t>가 들어왔습니다.</a:t>
            </a:r>
          </a:p>
        </p:txBody>
      </p:sp>
      <p:pic>
        <p:nvPicPr>
          <p:cNvPr id="6" name="Picture 5" descr="fc_na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83080"/>
            <a:ext cx="9994392" cy="616321"/>
          </a:xfrm>
          <a:prstGeom prst="rect">
            <a:avLst/>
          </a:prstGeom>
          <a:ln w="12700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</p:pic>
      <p:sp>
        <p:nvSpPr>
          <p:cNvPr id="7" name="Oval 6"/>
          <p:cNvSpPr/>
          <p:nvPr/>
        </p:nvSpPr>
        <p:spPr>
          <a:xfrm>
            <a:off x="6014520" y="1732788"/>
            <a:ext cx="929478" cy="716904"/>
          </a:xfrm>
          <a:prstGeom prst="ellipse">
            <a:avLst/>
          </a:prstGeom>
          <a:noFill/>
          <a:ln w="28575">
            <a:solidFill>
              <a:srgbClr val="22A1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27416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E5C4A"/>
                </a:solidFill>
                <a:latin typeface="Pretendard ExtraBold"/>
                <a:ea typeface="Pretendard ExtraBold"/>
              </a:rPr>
              <a:t>프리캔버스 상단 메뉴 속 「검색마스터」 — 실제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291840"/>
            <a:ext cx="4206240" cy="13716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FCF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3529584"/>
            <a:ext cx="3611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50" b="1" i="0">
                <a:solidFill>
                  <a:srgbClr val="1A2721"/>
                </a:solidFill>
                <a:latin typeface="Noto Serif KR"/>
                <a:ea typeface="Noto Serif KR"/>
              </a:rPr>
              <a:t>프리캔버스에서 만들다가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4B43"/>
                </a:solidFill>
                <a:latin typeface="Pretendard"/>
                <a:ea typeface="Pretendard"/>
              </a:rPr>
              <a:t>상세페이지 작업 중 상품명·키워드가 필요해지는 순간이 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566160"/>
            <a:ext cx="1051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 i="0">
                <a:solidFill>
                  <a:srgbClr val="A98449"/>
                </a:solidFill>
                <a:latin typeface="Pretendard"/>
                <a:ea typeface="Pretendard"/>
              </a:rPr>
              <a:t>→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6A33"/>
                </a:solidFill>
                <a:latin typeface="Pretendard ExtraBold"/>
                <a:ea typeface="Pretendard ExtraBold"/>
              </a:rPr>
              <a:t>단추 한 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291840"/>
            <a:ext cx="4206240" cy="1371600"/>
          </a:xfrm>
          <a:prstGeom prst="roundRect">
            <a:avLst>
              <a:gd name="adj" fmla="val 10000"/>
            </a:avLst>
          </a:prstGeom>
          <a:solidFill>
            <a:srgbClr val="F2F7F3"/>
          </a:solidFill>
          <a:ln w="9525">
            <a:solidFill>
              <a:srgbClr val="CFE3D7"/>
            </a:solidFill>
          </a:ln>
          <a:effectLst/>
          <a:effectLst>
            <a:outerShdw blurRad="170000" dist="50000" dir="5400000" rotWithShape="0">
              <a:srgbClr val="16241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3529584"/>
            <a:ext cx="3611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50" b="1" i="0">
                <a:solidFill>
                  <a:srgbClr val="1A2721"/>
                </a:solidFill>
                <a:latin typeface="Noto Serif KR"/>
                <a:ea typeface="Noto Serif KR"/>
              </a:rPr>
              <a:t>검색마스터가 새 탭으로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4B43"/>
                </a:solidFill>
                <a:latin typeface="Pretendard"/>
                <a:ea typeface="Pretendard"/>
              </a:rPr>
              <a:t>쓰던 구글 계정 그대로 열려, 다시 로그인할 필요가 없습니다.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5230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A2721"/>
                </a:solidFill>
                <a:latin typeface="Pretendard SemiBold"/>
                <a:ea typeface="Pretendard SemiBold"/>
              </a:rPr>
              <a:t>● 하나의 구글 계정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53309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으로 두 서비스를 오갑니다 — 구독은 서비스별로 따로, 계정은 하나로.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ExtraBold"/>
                <a:ea typeface="Pretendard ExtraBold"/>
              </a:rPr>
              <a:t>검색마스터</a:t>
            </a: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 × 프리캔버스 — 하나의 흐름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4652"/>
            <a:ext cx="384048" cy="16459"/>
          </a:xfrm>
          <a:prstGeom prst="rect">
            <a:avLst/>
          </a:prstGeom>
          <a:solidFill>
            <a:srgbClr val="A9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66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90">
                <a:solidFill>
                  <a:srgbClr val="0E5C4A"/>
                </a:solidFill>
                <a:latin typeface="Pretendard ExtraBold"/>
                <a:ea typeface="Pretendard ExtraBold"/>
              </a:rPr>
              <a:t>셀러의 하루 — 실전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2721"/>
                </a:solidFill>
                <a:latin typeface="Noto Serif KR"/>
                <a:ea typeface="Noto Serif KR"/>
              </a:rPr>
              <a:t>상품 하나가 </a:t>
            </a:r>
            <a:r>
              <a:rPr sz="2300" b="1" i="0">
                <a:solidFill>
                  <a:srgbClr val="0E5C4A"/>
                </a:solidFill>
                <a:latin typeface="Noto Serif KR"/>
                <a:ea typeface="Noto Serif KR"/>
              </a:rPr>
              <a:t>등록까지 가는 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9540" y="2194560"/>
            <a:ext cx="18288" cy="969264"/>
          </a:xfrm>
          <a:prstGeom prst="rect">
            <a:avLst/>
          </a:prstGeom>
          <a:solidFill>
            <a:srgbClr val="E6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8A6A33"/>
                </a:solidFill>
                <a:latin typeface="Noto Serif KR"/>
                <a:ea typeface="Noto Serif KR"/>
              </a:rPr>
              <a:t>첫걸음</a:t>
            </a:r>
          </a:p>
        </p:txBody>
      </p:sp>
      <p:sp>
        <p:nvSpPr>
          <p:cNvPr id="8" name="Oval 7"/>
          <p:cNvSpPr/>
          <p:nvPr/>
        </p:nvSpPr>
        <p:spPr>
          <a:xfrm>
            <a:off x="2212848" y="1993392"/>
            <a:ext cx="132588" cy="132588"/>
          </a:xfrm>
          <a:prstGeom prst="ellipse">
            <a:avLst/>
          </a:prstGeom>
          <a:solidFill>
            <a:srgbClr val="A9844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06040" y="1920240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F2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6A33"/>
                </a:solidFill>
                <a:latin typeface="Pretendard SemiBold"/>
                <a:ea typeface="Pretendard SemiBold"/>
              </a:rPr>
              <a:t>프리캔버스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58568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1A2721"/>
                </a:solidFill>
                <a:latin typeface="Pretendard ExtraBold"/>
                <a:ea typeface="Pretendard ExtraBold"/>
              </a:rPr>
              <a:t>소싱 링크 붙여넣기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스마트스토어·1688 상품 주소로 이미지와 상품 정보를 한 번에 담아옵니다.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9540" y="3273552"/>
            <a:ext cx="18288" cy="969264"/>
          </a:xfrm>
          <a:prstGeom prst="rect">
            <a:avLst/>
          </a:prstGeom>
          <a:solidFill>
            <a:srgbClr val="E6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8A6A33"/>
                </a:solidFill>
                <a:latin typeface="Noto Serif KR"/>
                <a:ea typeface="Noto Serif KR"/>
              </a:rPr>
              <a:t>두걸음</a:t>
            </a:r>
          </a:p>
        </p:txBody>
      </p:sp>
      <p:sp>
        <p:nvSpPr>
          <p:cNvPr id="13" name="Oval 12"/>
          <p:cNvSpPr/>
          <p:nvPr/>
        </p:nvSpPr>
        <p:spPr>
          <a:xfrm>
            <a:off x="2212848" y="3072384"/>
            <a:ext cx="132588" cy="132588"/>
          </a:xfrm>
          <a:prstGeom prst="ellipse">
            <a:avLst/>
          </a:prstGeom>
          <a:solidFill>
            <a:srgbClr val="0E5C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40" y="2999232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0E5C4A"/>
                </a:solidFill>
                <a:latin typeface="Pretendard SemiBold"/>
                <a:ea typeface="Pretendard SemiBold"/>
              </a:rPr>
              <a:t>검색마스터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337560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1A2721"/>
                </a:solidFill>
                <a:latin typeface="Pretendard ExtraBold"/>
                <a:ea typeface="Pretendard ExtraBold"/>
              </a:rPr>
              <a:t>상품명·키워드 짓기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상단 단추로 넘어가 사진과 설명을 넣고, 판매 채널에 맞는 상품명을 완성합니다.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9540" y="4352544"/>
            <a:ext cx="18288" cy="969264"/>
          </a:xfrm>
          <a:prstGeom prst="rect">
            <a:avLst/>
          </a:prstGeom>
          <a:solidFill>
            <a:srgbClr val="E6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239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8A6A33"/>
                </a:solidFill>
                <a:latin typeface="Noto Serif KR"/>
                <a:ea typeface="Noto Serif KR"/>
              </a:rPr>
              <a:t>세걸음</a:t>
            </a:r>
          </a:p>
        </p:txBody>
      </p:sp>
      <p:sp>
        <p:nvSpPr>
          <p:cNvPr id="18" name="Oval 17"/>
          <p:cNvSpPr/>
          <p:nvPr/>
        </p:nvSpPr>
        <p:spPr>
          <a:xfrm>
            <a:off x="2212848" y="4151376"/>
            <a:ext cx="132588" cy="132588"/>
          </a:xfrm>
          <a:prstGeom prst="ellipse">
            <a:avLst/>
          </a:prstGeom>
          <a:solidFill>
            <a:srgbClr val="A9844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06040" y="4078224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F2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6A33"/>
                </a:solidFill>
                <a:latin typeface="Pretendard SemiBold"/>
                <a:ea typeface="Pretendard SemiBold"/>
              </a:rPr>
              <a:t>프리캔버스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416552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1A2721"/>
                </a:solidFill>
                <a:latin typeface="Pretendard ExtraBold"/>
                <a:ea typeface="Pretendard ExtraBold"/>
              </a:rPr>
              <a:t>상세·영상·카드뉴스 만들기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같은 재료로 상세페이지를 짓고, 1688 영상은 한국어로, 홍보는 카드뉴스로 뽑습니다.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02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8A6A33"/>
                </a:solidFill>
                <a:latin typeface="Noto Serif KR"/>
                <a:ea typeface="Noto Serif KR"/>
              </a:rPr>
              <a:t>네걸음</a:t>
            </a:r>
          </a:p>
        </p:txBody>
      </p:sp>
      <p:sp>
        <p:nvSpPr>
          <p:cNvPr id="22" name="Oval 21"/>
          <p:cNvSpPr/>
          <p:nvPr/>
        </p:nvSpPr>
        <p:spPr>
          <a:xfrm>
            <a:off x="2212848" y="5230368"/>
            <a:ext cx="132588" cy="132588"/>
          </a:xfrm>
          <a:prstGeom prst="ellipse">
            <a:avLst/>
          </a:prstGeom>
          <a:solidFill>
            <a:srgbClr val="1A27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06040" y="5157216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C5D"/>
                </a:solidFill>
                <a:latin typeface="Pretendard SemiBold"/>
                <a:ea typeface="Pretendard SemiBold"/>
              </a:rPr>
              <a:t>셀러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495544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1A2721"/>
                </a:solidFill>
                <a:latin typeface="Pretendard ExtraBold"/>
                <a:ea typeface="Pretendard ExtraBold"/>
              </a:rPr>
              <a:t>플랫폼에 올리기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C5D"/>
                </a:solidFill>
                <a:latin typeface="Pretendard"/>
                <a:ea typeface="Pretendard"/>
              </a:rPr>
              <a:t>완성본을 내려받아 그대로 등록 — 외주 없이 하루 안에 상품 하나가 끝납니다.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C5D"/>
                </a:solidFill>
                <a:latin typeface="Pretendard"/>
                <a:ea typeface="Pretendard"/>
              </a:rPr>
              <a:t>소싱 → 이름 → 콘텐츠 →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400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C6C5D"/>
                </a:solidFill>
                <a:latin typeface="Cormorant Garamond"/>
                <a:ea typeface="Cormorant Garamond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D17"/>
              </a:gs>
              <a:gs pos="100000">
                <a:srgbClr val="0E5C4A"/>
              </a:gs>
            </a:gsLst>
            <a:lin scaled="0" ang="12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389120"/>
            <a:ext cx="4389120" cy="4389120"/>
          </a:xfrm>
          <a:prstGeom prst="ellipse">
            <a:avLst/>
          </a:prstGeom>
          <a:solidFill>
            <a:srgbClr val="14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04672"/>
            <a:ext cx="384048" cy="16459"/>
          </a:xfrm>
          <a:prstGeom prst="rect">
            <a:avLst/>
          </a:prstGeom>
          <a:solidFill>
            <a:srgbClr val="CD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731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00">
                <a:solidFill>
                  <a:srgbClr val="CDB98A"/>
                </a:solidFill>
                <a:latin typeface="Pretendard ExtraBold"/>
                <a:ea typeface="Pretendard ExtraBold"/>
              </a:rPr>
              <a:t>오늘부터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900" b="1" i="0">
                <a:solidFill>
                  <a:srgbClr val="FBF8EE"/>
                </a:solidFill>
                <a:latin typeface="Noto Serif KR"/>
                <a:ea typeface="Noto Serif KR"/>
              </a:rPr>
              <a:t>다음에 올릴 그 상품부터,</a:t>
            </a:r>
          </a:p>
          <a:p>
            <a:pPr algn="l">
              <a:lnSpc>
                <a:spcPct val="128000"/>
              </a:lnSpc>
            </a:pPr>
            <a:r>
              <a:rPr sz="2900" b="1" i="0">
                <a:solidFill>
                  <a:srgbClr val="FBF8EE"/>
                </a:solidFill>
                <a:latin typeface="Noto Serif KR"/>
                <a:ea typeface="Noto Serif KR"/>
              </a:rPr>
              <a:t>두 AI에게 맡겨 보세요.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3429000" cy="1481328"/>
          </a:xfrm>
          <a:prstGeom prst="roundRect">
            <a:avLst>
              <a:gd name="adj" fmla="val 10000"/>
            </a:avLst>
          </a:prstGeom>
          <a:solidFill>
            <a:srgbClr val="17352B"/>
          </a:solidFill>
          <a:ln w="9525">
            <a:solidFill>
              <a:srgbClr val="6B5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273552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100" b="1" i="0">
                <a:solidFill>
                  <a:srgbClr val="CDB98A"/>
                </a:solidFill>
                <a:latin typeface="Noto Serif KR"/>
                <a:ea typeface="Noto Serif KR"/>
              </a:rPr>
              <a:t>하나</a:t>
            </a:r>
            <a:r>
              <a:rPr sz="1100" b="0" i="0">
                <a:solidFill>
                  <a:srgbClr val="CDB98A"/>
                </a:solidFill>
                <a:latin typeface="Pretendard"/>
                <a:ea typeface="Pretendard"/>
              </a:rPr>
              <a:t> 의 계정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F0ECDD"/>
                </a:solidFill>
                <a:latin typeface="Pretendard ExtraBold"/>
                <a:ea typeface="Pretendard ExtraBold"/>
              </a:rPr>
              <a:t>로그인은 한 번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B9C6BA"/>
                </a:solidFill>
                <a:latin typeface="Pretendard"/>
                <a:ea typeface="Pretendard"/>
              </a:rPr>
              <a:t>구글 계정 하나로 두 서비스를 오가며 씁니다.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3063240"/>
            <a:ext cx="3429000" cy="1481328"/>
          </a:xfrm>
          <a:prstGeom prst="roundRect">
            <a:avLst>
              <a:gd name="adj" fmla="val 10000"/>
            </a:avLst>
          </a:prstGeom>
          <a:solidFill>
            <a:srgbClr val="17352B"/>
          </a:solidFill>
          <a:ln w="9525">
            <a:solidFill>
              <a:srgbClr val="6B5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3273552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100" b="1" i="0">
                <a:solidFill>
                  <a:srgbClr val="CDB98A"/>
                </a:solidFill>
                <a:latin typeface="Noto Serif KR"/>
                <a:ea typeface="Noto Serif KR"/>
              </a:rPr>
              <a:t>둘</a:t>
            </a:r>
            <a:r>
              <a:rPr sz="1100" b="0" i="0">
                <a:solidFill>
                  <a:srgbClr val="CDB98A"/>
                </a:solidFill>
                <a:latin typeface="Pretendard"/>
                <a:ea typeface="Pretendard"/>
              </a:rPr>
              <a:t> 의 승부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F0ECDD"/>
                </a:solidFill>
                <a:latin typeface="Pretendard ExtraBold"/>
                <a:ea typeface="Pretendard ExtraBold"/>
              </a:rPr>
              <a:t>발견과 설득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B9C6BA"/>
                </a:solidFill>
                <a:latin typeface="Pretendard"/>
                <a:ea typeface="Pretendard"/>
              </a:rPr>
              <a:t>걸리는 이름은 검색마스터, 사고 싶은 모습은 프리캔버스.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3063240"/>
            <a:ext cx="3429000" cy="1481328"/>
          </a:xfrm>
          <a:prstGeom prst="roundRect">
            <a:avLst>
              <a:gd name="adj" fmla="val 10000"/>
            </a:avLst>
          </a:prstGeom>
          <a:solidFill>
            <a:srgbClr val="17352B"/>
          </a:solidFill>
          <a:ln w="9525">
            <a:solidFill>
              <a:srgbClr val="6B5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3273552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100" b="1" i="0">
                <a:solidFill>
                  <a:srgbClr val="CDB98A"/>
                </a:solidFill>
                <a:latin typeface="Noto Serif KR"/>
                <a:ea typeface="Noto Serif KR"/>
              </a:rPr>
              <a:t>여섯</a:t>
            </a:r>
            <a:r>
              <a:rPr sz="1100" b="0" i="0">
                <a:solidFill>
                  <a:srgbClr val="CDB98A"/>
                </a:solidFill>
                <a:latin typeface="Pretendard"/>
                <a:ea typeface="Pretendard"/>
              </a:rPr>
              <a:t> 의 새것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F0ECDD"/>
                </a:solidFill>
                <a:latin typeface="Pretendard ExtraBold"/>
                <a:ea typeface="Pretendard ExtraBold"/>
              </a:rPr>
              <a:t>여름 새 기능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B9C6BA"/>
                </a:solidFill>
                <a:latin typeface="Pretendard"/>
                <a:ea typeface="Pretendard"/>
              </a:rPr>
              <a:t>설명 입력·링크 소싱·영상 한국어화·상세 편집·카드뉴스·지우개.</a:t>
            </a:r>
          </a:p>
        </p:txBody>
      </p:sp>
      <p:sp>
        <p:nvSpPr>
          <p:cNvPr id="13" name="Rounded Rectangle 12">
            <a:hlinkClick r:id="rId2"/>
          </p:cNvPr>
          <p:cNvSpPr/>
          <p:nvPr/>
        </p:nvSpPr>
        <p:spPr>
          <a:xfrm>
            <a:off x="822960" y="4892040"/>
            <a:ext cx="5193792" cy="868680"/>
          </a:xfrm>
          <a:prstGeom prst="roundRect">
            <a:avLst>
              <a:gd name="adj" fmla="val 12000"/>
            </a:avLst>
          </a:prstGeom>
          <a:solidFill>
            <a:srgbClr val="1B3A31"/>
          </a:solidFill>
          <a:ln w="9525">
            <a:solidFill>
              <a:srgbClr val="8A7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5663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CDB98A"/>
                </a:solidFill>
                <a:latin typeface="Pretendard ExtraBold"/>
                <a:ea typeface="Pretendard ExtraBold"/>
              </a:rPr>
              <a:t>검색마스터 — 상품명 생성기</a:t>
            </a:r>
          </a:p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EEF6EF"/>
                </a:solidFill>
                <a:latin typeface="Cormorant Garamond"/>
                <a:ea typeface="Cormorant Garamond"/>
              </a:rPr>
              <a:t>ramiteacher.github.io/product-title-ai</a:t>
            </a: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6172200" y="4892040"/>
            <a:ext cx="5193792" cy="868680"/>
          </a:xfrm>
          <a:prstGeom prst="roundRect">
            <a:avLst>
              <a:gd name="adj" fmla="val 12000"/>
            </a:avLst>
          </a:prstGeom>
          <a:solidFill>
            <a:srgbClr val="1B3A31"/>
          </a:solidFill>
          <a:ln w="9525">
            <a:solidFill>
              <a:srgbClr val="8A7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05663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CDB98A"/>
                </a:solidFill>
                <a:latin typeface="Pretendard ExtraBold"/>
                <a:ea typeface="Pretendard ExtraBold"/>
              </a:rPr>
              <a:t>프리캔버스 — 콘텐츠 공방</a:t>
            </a:r>
          </a:p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EEF6EF"/>
                </a:solidFill>
                <a:latin typeface="Cormorant Garamond"/>
                <a:ea typeface="Cormorant Garamond"/>
              </a:rPr>
              <a:t>www.freecanvas.ai.kr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6DCBD"/>
                </a:solidFill>
                <a:latin typeface="Noto Serif KR"/>
                <a:ea typeface="Noto Serif KR"/>
              </a:rPr>
              <a:t>고맙습니다.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