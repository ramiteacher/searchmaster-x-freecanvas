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7724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1F5068"/>
                </a:solidFill>
                <a:latin typeface="Pretendard ExtraBold"/>
                <a:ea typeface="Pretendard ExtraBold"/>
              </a:rPr>
              <a:t>온라인셀러를 위한 두 개의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 </a:t>
            </a:r>
            <a:r>
              <a:rPr sz="3800" b="1" i="0">
                <a:solidFill>
                  <a:srgbClr val="9A7440"/>
                </a:solidFill>
                <a:latin typeface="Noto Serif KR"/>
                <a:ea typeface="Noto Serif KR"/>
              </a:rPr>
              <a:t>×</a:t>
            </a:r>
            <a:r>
              <a:rPr sz="3800" b="1" i="0">
                <a:solidFill>
                  <a:srgbClr val="1D2735"/>
                </a:solidFill>
                <a:latin typeface="Noto Serif KR"/>
                <a:ea typeface="Noto Serif KR"/>
              </a:rPr>
              <a:t> 프리캔버스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55569"/>
                </a:solidFill>
                <a:latin typeface="Pretendard SemiBold"/>
                <a:ea typeface="Pretendard SemiBold"/>
              </a:rPr>
              <a:t>검색에 걸리는 이름, 구매로 이어지는 화면 — 새 기능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42032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5068"/>
                </a:solidFill>
                <a:latin typeface="Pretendard ExtraBold"/>
                <a:ea typeface="Pretendard ExtraBold"/>
              </a:rPr>
              <a:t>검색마스터</a:t>
            </a: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      </a:t>
            </a:r>
            <a:r>
              <a:rPr sz="1200" b="0" i="0">
                <a:solidFill>
                  <a:srgbClr val="1F5068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pic>
        <p:nvPicPr>
          <p:cNvPr id="8" name="Picture 7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3108960"/>
            <a:ext cx="3611880" cy="1302857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08960"/>
            <a:ext cx="4983480" cy="1302349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371600" y="48920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상품명부터 상세페이지·영상·카드뉴스까지 —</a:t>
            </a:r>
          </a:p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을 실제 화면으로 안내합니다.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왜 두 개의 AI인가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058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상품 하나를 팔려면,</a:t>
            </a:r>
          </a:p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셀러는 </a:t>
            </a:r>
            <a:r>
              <a:rPr sz="2700" b="1" i="0">
                <a:solidFill>
                  <a:srgbClr val="1F5068"/>
                </a:solidFill>
                <a:latin typeface="Noto Serif KR"/>
                <a:ea typeface="Noto Serif KR"/>
              </a:rPr>
              <a:t>두 번</a:t>
            </a: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 이겨야 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5074920" cy="237744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>
                <a:solidFill>
                  <a:srgbClr val="1D2735"/>
                </a:solidFill>
                <a:latin typeface="Pretendard"/>
                <a:ea typeface="Pretendard"/>
              </a:rPr>
              <a:t>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041648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1D2735"/>
                </a:solidFill>
                <a:latin typeface="Noto Serif KR"/>
                <a:ea typeface="Noto Serif KR"/>
              </a:rPr>
              <a:t>발견의 승부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 i="0">
                <a:solidFill>
                  <a:srgbClr val="455569"/>
                </a:solidFill>
                <a:latin typeface="Pretendard SemiBold"/>
                <a:ea typeface="Pretendard SemiBold"/>
              </a:rPr>
              <a:t>검색 결과에 노출되기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고객이 검색창에 친 바로 그 말에 내 상품이 걸려야 합니다.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이 싸움은 </a:t>
            </a:r>
            <a:r>
              <a:rPr sz="1150" b="0" i="0">
                <a:solidFill>
                  <a:srgbClr val="28364A"/>
                </a:solidFill>
                <a:latin typeface="Pretendard ExtraBold"/>
                <a:ea typeface="Pretendard ExtraBold"/>
              </a:rPr>
              <a:t>검색마스터</a:t>
            </a: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가 맡습니다.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063240"/>
            <a:ext cx="5074920" cy="2377440"/>
          </a:xfrm>
          <a:prstGeom prst="roundRect">
            <a:avLst>
              <a:gd name="adj" fmla="val 7000"/>
            </a:avLst>
          </a:prstGeom>
          <a:solidFill>
            <a:srgbClr val="FFFDF7"/>
          </a:solidFill>
          <a:ln w="9525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11112" y="3310128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>
                <a:solidFill>
                  <a:srgbClr val="1D2735"/>
                </a:solidFill>
                <a:latin typeface="Pretendard"/>
                <a:ea typeface="Pretendard"/>
              </a:rPr>
              <a:t>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1112" y="4041648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1D2735"/>
                </a:solidFill>
                <a:latin typeface="Noto Serif KR"/>
                <a:ea typeface="Noto Serif KR"/>
              </a:rPr>
              <a:t>설득의 승부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 i="0">
                <a:solidFill>
                  <a:srgbClr val="455569"/>
                </a:solidFill>
                <a:latin typeface="Pretendard SemiBold"/>
                <a:ea typeface="Pretendard SemiBold"/>
              </a:rPr>
              <a:t>클릭을 구매로 바꾸기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들어온 고객이 스크롤을 내리다 결제 버튼을 누르게 해야 합니다.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이 싸움은 </a:t>
            </a:r>
            <a:r>
              <a:rPr sz="1150" b="0" i="0">
                <a:solidFill>
                  <a:srgbClr val="28364A"/>
                </a:solidFill>
                <a:latin typeface="Pretendard ExtraBold"/>
                <a:ea typeface="Pretendard ExtraBold"/>
              </a:rPr>
              <a:t>프리캔버스</a:t>
            </a: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가 맡습니다.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760720"/>
            <a:ext cx="9235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아무리 좋은 물건도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보이지 않으면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 없는 상품이고,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마음을 움직이지 못하면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 스쳐 가는 상품입니다.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05840"/>
            <a:ext cx="105156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따로 쓰는 두 개의 앱이 아니라,</a:t>
            </a:r>
          </a:p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하나로 </a:t>
            </a:r>
            <a:r>
              <a:rPr sz="2700" b="1" i="0">
                <a:solidFill>
                  <a:srgbClr val="1F5068"/>
                </a:solidFill>
                <a:latin typeface="Noto Serif KR"/>
                <a:ea typeface="Noto Serif KR"/>
              </a:rPr>
              <a:t>이어지는 한 벌</a:t>
            </a: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의 도구입니다.</a:t>
            </a:r>
          </a:p>
        </p:txBody>
      </p:sp>
      <p:pic>
        <p:nvPicPr>
          <p:cNvPr id="7" name="Picture 6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71800"/>
            <a:ext cx="4572000" cy="164918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532120" y="338328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9A7440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같은 상품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같은 구글 계정</a:t>
            </a:r>
          </a:p>
        </p:txBody>
      </p:sp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108960"/>
            <a:ext cx="4572000" cy="119481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463040" y="5440680"/>
            <a:ext cx="9235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검색마스터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가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이름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 짓고,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프리캔버스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가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모습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 만듭니다.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오늘은 </a:t>
            </a:r>
            <a:r>
              <a:rPr sz="1250" b="0" i="0">
                <a:solidFill>
                  <a:srgbClr val="7D5E33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 실제 화면으로 보여드립니다.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제1장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검색에 걸리는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이름 짓기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검색마스터 — 사진 한 장과 설명 한 줄로, 검색에 닿는 상품명을 완성합니다.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검색마스터 — 새로워진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이제 </a:t>
            </a: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사진과 설명을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함께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 읽습니다.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“책상 위에 놓는 무선 충전 겸용 스탠드”처럼 한 줄만 보태면, 사진만으로는 놓치기 쉬운 재질과 용도까지 상품명에 정확히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판매 채널별 이름 전략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 문법대로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기다림 없는 화면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사진을 올리면 바로 보이고, 생성 과정이 화면에 그대로 표시되어 기다림이 지루하지 않습니다.</a:t>
            </a:r>
          </a:p>
        </p:txBody>
      </p:sp>
      <p:pic>
        <p:nvPicPr>
          <p:cNvPr id="15" name="Picture 14" descr="sm_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70432"/>
            <a:ext cx="4343400" cy="3353105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633264"/>
            <a:ext cx="4892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사진 · 판매 채널 · 상품 설명 · 보강 키워드 — 한 화면에서 끝납니다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제2장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사고 싶게 만드는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콘텐츠 공방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프리캔버스 — 소싱한 재료가 상세페이지·영상·카드뉴스가 되기까지, 손길이 가던 일들을 덜어냈습니다.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첫 화면부터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들어서면 </a:t>
            </a:r>
            <a:r>
              <a:rPr sz="2300" b="1" i="0">
                <a:solidFill>
                  <a:srgbClr val="1F5068"/>
                </a:solidFill>
                <a:latin typeface="Noto Serif KR"/>
                <a:ea typeface="Noto Serif KR"/>
              </a:rPr>
              <a:t>세 개의 작업실</a:t>
            </a: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이 기다립니다.</a:t>
            </a:r>
          </a:p>
        </p:txBody>
      </p:sp>
      <p:pic>
        <p:nvPicPr>
          <p:cNvPr id="7" name="Picture 6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43032" cy="1286250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22960" y="3206489"/>
            <a:ext cx="29260" cy="566928"/>
          </a:xfrm>
          <a:prstGeom prst="rect">
            <a:avLst/>
          </a:prstGeom>
          <a:solidFill>
            <a:srgbClr val="1F5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79057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제품 사진과 정보만 넣으면 상세페이지를 처음부터 지어줍니다.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56297"/>
            <a:ext cx="29260" cy="566928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2886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 있는 상세 캡처를 블록으로 풀어 바로 손질합니다.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6105"/>
            <a:ext cx="29260" cy="566928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7867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3345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일반·의류·과일채소 상세페이지에 </a:t>
            </a:r>
            <a:r>
              <a:rPr sz="11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와 </a:t>
            </a:r>
            <a:r>
              <a:rPr sz="11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까지 — 다섯 갈래 결과물이 한 곳에서 나옵니다.</a:t>
            </a:r>
          </a:p>
        </p:txBody>
      </p:sp>
      <p:pic>
        <p:nvPicPr>
          <p:cNvPr id="15" name="Picture 14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24777"/>
            <a:ext cx="1783080" cy="2473054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소싱 링크를 붙여넣으면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재료가 알아서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상품 주소만 붙여넣으면 작은 새 창이 열려 상세 내용과 상품 이미지를 통째로 가져옵니다. 가격 정보는 자동으로 걸러냅니다.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확장 프로그램 한 번 설치로 끝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웹스토어 단추와 설치 안내가 화면 안에 있어, 처음 한 번만 설치해 두면 다음부터는 붙여넣기만으로 충분합니다.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중국어 정리까지 자동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1688에서 가져온 문구 속 중국어와 불필요한 표기를 한국어 기준으로 매만져 줍니다.</a:t>
            </a:r>
          </a:p>
        </p:txBody>
      </p:sp>
      <p:pic>
        <p:nvPicPr>
          <p:cNvPr id="15" name="Picture 14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892040" cy="269062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83430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스마트스토어 링크와 1688 링크, 각각 “불러오기” 한 번이면 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중국어 상품 영상이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한국어 콘텐츠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가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중국어 자막 지우고, 한국어 자막 입히기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영상 속 중국어 문구 자리를 찾아 지우고 그 자리에 자연스러운 한국어 자막을 얹습니다.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한국어 음성 더빙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자막에 맞춰 우리말 음성을 입혀, 소리까지 완전한 한국어 영상으로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세로 영상으로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쇼츠·릴스에 바로 올릴 수 있는 세로 비율로 저장되며, 자막 파일도 함께 제공됩니다.</a:t>
            </a:r>
          </a:p>
        </p:txBody>
      </p:sp>
      <p:pic>
        <p:nvPicPr>
          <p:cNvPr id="15" name="Picture 14" descr="fc_16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19"/>
            <a:ext cx="4983480" cy="2382103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366351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영상 후보 탐색부터 한국어 자막 생성·저장까지 한 작업실에서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긴 상세페이지도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블록으로 풀어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 고칩니다.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캡처 한 장이 편집 블록으로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분해합니다.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↔️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자른 경계는 끌어서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나뉜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그림 속 글자도 고쳐 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이미지 속 문구를 골라 내용을 고치고 글꼴을 정하면, 그 모습 그대로 다시 그려냅니다.</a:t>
            </a:r>
          </a:p>
        </p:txBody>
      </p:sp>
      <p:pic>
        <p:nvPicPr>
          <p:cNvPr id="15" name="Picture 14" descr="fc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19"/>
            <a:ext cx="4983480" cy="2382103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366351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캡처를 올리면 이미지·텍스트 블록으로 정리되어 바로 수정합니다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홍보용 </a:t>
            </a: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카드뉴스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는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사진이 없어도 완성됩니다.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줄거리만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주제와 하고 싶은 말을 적으면, 넘겨보는 카드 여러 장이 처음부터 끝까지 한 호흡으로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모든 장의 결이 같게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색·글꼴·판짜임을 먼저 정해 두고 그리기 때문에, 장마다 분위기가 어긋나는 일이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🖼️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사진 없이도, 분위기만 빌려도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사진이 없으면 글만으로 만들고, 있다면 분위기를 참고하는 정도로만 쓸 수도 있습니다.</a:t>
            </a:r>
          </a:p>
        </p:txBody>
      </p:sp>
      <p:pic>
        <p:nvPicPr>
          <p:cNvPr id="15" name="Picture 14" descr="fc_cardnew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4206240" cy="2818614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619982"/>
            <a:ext cx="4754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“카드뉴스는 사진 없이도 생성할 수 있습니다” — 화면 속 안내 그대로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지우고 싶은 곳만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칠하면 사라집니다.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🖌️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소싱 이미지의 티끌 정리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박혀 있는 워터마크, 중국어 글자, 거슬리는 배경 — 붓으로 칠한 자리만 감쪽같이 지워집니다.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내 컴퓨터 안에서 즉시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편집 화면 안에서 곧바로 지워져, 기다리거나 다른 도구로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붓 하나로 끝나는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복잡한 설정을 들어냈습니다. 문지르면 지워진다 — 그게 전부입니다.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28364A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 rot="20760000">
            <a:off x="6629400" y="3063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 spc="280">
                <a:solidFill>
                  <a:srgbClr val="9AA7B8"/>
                </a:solidFill>
                <a:latin typeface="Pretendard ExtraBold"/>
                <a:ea typeface="Pretendard ExtraBold"/>
              </a:rPr>
              <a:t>워터마크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926080"/>
            <a:ext cx="1645920" cy="68580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D5D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392" y="39136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28364A"/>
                </a:solidFill>
                <a:latin typeface="Pretendard SemiBold"/>
                <a:ea typeface="Pretendard SemiBold"/>
              </a:rPr>
              <a:t>지우기 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27432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1F5068"/>
                </a:solidFill>
                <a:latin typeface="Pretendard"/>
                <a:ea typeface="Pretendard"/>
              </a:rPr>
              <a:t>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1432" y="3913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1F5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지운 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83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칠한 자리만 지워지고, 상품은 그대로 남습니다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처음이어도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화면이 </a:t>
            </a: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손을 잡고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차례로 안내합니다.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결과물마다 다른 안내 순서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단계별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사진 올리기부터 저장까지, 화면 위에서 하나씩 짚어 주어 헤맬 틈이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언제든 다시 열어보기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첫 화면의 “사용법 보기” 하나면 언제든 처음부터 다시 안내를 받을 수 있습니다.</a:t>
            </a:r>
          </a:p>
        </p:txBody>
      </p:sp>
      <p:pic>
        <p:nvPicPr>
          <p:cNvPr id="15" name="Picture 14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3657600" cy="323718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1851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사진 올리기부터 저장까지, 화면 안내를 그대로 따라가면 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제3장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둘이 하나로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이어지는 순간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같은 구글 계정, 같은 상품 — 화면 안 단추 하나로 두 서비스가 맞물립니다.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새로 생긴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 상단 메뉴에 </a:t>
            </a:r>
            <a:r>
              <a:rPr sz="2300" b="1" i="0">
                <a:solidFill>
                  <a:srgbClr val="1F5068"/>
                </a:solidFill>
                <a:latin typeface="Noto Serif KR"/>
                <a:ea typeface="Noto Serif KR"/>
              </a:rPr>
              <a:t>검색마스터</a:t>
            </a: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가 들어왔습니다.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1F5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D2735"/>
                </a:solidFill>
                <a:latin typeface="Noto Serif KR"/>
                <a:ea typeface="Noto Serif KR"/>
              </a:rPr>
              <a:t>프리캔버스에서 만들다가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상세페이지 작업 중 상품명·키워드가 필요해지는 순간이 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9A7440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단추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D2735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쓰던 구글 계정 그대로 열려,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D2735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으로 두 서비스를 오갑니다 — 구독은 서비스별로 따로, 계정은 하나로.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셀러의 하루 — 실전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상품 하나가 </a:t>
            </a:r>
            <a:r>
              <a:rPr sz="2300" b="1" i="0">
                <a:solidFill>
                  <a:srgbClr val="1F5068"/>
                </a:solidFill>
                <a:latin typeface="Noto Serif KR"/>
                <a:ea typeface="Noto Serif KR"/>
              </a:rPr>
              <a:t>등록까지 가는 길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9A744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7D5E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스마트스토어·1688 상품 주소로 이미지와 상품 정보를 한 번에 담아옵니다.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1F506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A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F5068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상품명·키워드 짓기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상단 단추로 넘어가 사진과 설명을 넣고, 판매 채널에 맞는 상품명을 완성합니다.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9A744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7D5E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같은 재료로 상세페이지를 짓고, 1688 영상은 한국어로, 홍보는 카드뉴스로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D27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플랫폼에 올리기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완성본을 내려받아 그대로 등록합니다. 외주 없이, 하루 안에 끝나는 흐름입니다.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1F5068"/>
                </a:solidFill>
                <a:latin typeface="Pretendard ExtraBold"/>
                <a:ea typeface="Pretendard ExtraBold"/>
              </a:rPr>
              <a:t>오늘부터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015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다음에 올릴 그 상품부터,</a:t>
            </a:r>
          </a:p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두 AI에게 맡겨 보세요.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🔑 로그인은 한 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🎯 발견과 설득, 두 번의 승부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검색에 걸리는 이름은 검색마스터가, 사고 싶어지는 모습은 프리캔버스가.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9832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6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✨ 새로 추가된 여섯 가지 기능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설명 입력 · 링크 소싱 · 영상 한국어화 · 상세 편집 · 카드뉴스 · 지우개.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1234440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7F3EC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9A7440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5068"/>
                </a:solidFill>
                <a:latin typeface="Pretendard ExtraBold"/>
                <a:ea typeface="Pretendard ExtraBold"/>
              </a:rPr>
              <a:t>ramiteacher.github.io/product-title-ai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6163056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7F3EC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9A7440"/>
                </a:solidFill>
                <a:latin typeface="Pretendard ExtraBold"/>
                <a:ea typeface="Pretendard ExtraBold"/>
              </a:rPr>
              <a:t>프리캔버스 — 콘텐츠 제작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5068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1036015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8364A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