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miteacher.github.io/product-title-ai/" TargetMode="External"/><Relationship Id="rId3" Type="http://schemas.openxmlformats.org/officeDocument/2006/relationships/hyperlink" Target="https://www.freecanvas.ai.kr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77724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0F4E53"/>
                </a:solidFill>
                <a:latin typeface="Pretendard ExtraBold"/>
                <a:ea typeface="Pretendard ExtraBold"/>
              </a:rPr>
              <a:t>온라인셀러를 위한 도구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103601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191F28"/>
                </a:solidFill>
                <a:latin typeface="Noto Serif KR"/>
                <a:ea typeface="Noto Serif KR"/>
              </a:rPr>
              <a:t>검색마스터 </a:t>
            </a:r>
            <a:r>
              <a:rPr sz="3800" b="1" i="0">
                <a:solidFill>
                  <a:srgbClr val="0F4E53"/>
                </a:solidFill>
                <a:latin typeface="Noto Serif KR"/>
                <a:ea typeface="Noto Serif KR"/>
              </a:rPr>
              <a:t>×</a:t>
            </a:r>
            <a:r>
              <a:rPr sz="3800" b="1" i="0">
                <a:solidFill>
                  <a:srgbClr val="191F28"/>
                </a:solidFill>
                <a:latin typeface="Noto Serif KR"/>
                <a:ea typeface="Noto Serif KR"/>
              </a:rPr>
              <a:t> 프리캔버스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445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E5964"/>
                </a:solidFill>
                <a:latin typeface="Pretendard SemiBold"/>
                <a:ea typeface="Pretendard SemiBold"/>
              </a:rPr>
              <a:t>상품명 생성기 · 상세페이지 생성기 — 새 기능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42032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0F4E53"/>
                </a:solidFill>
                <a:latin typeface="Pretendard ExtraBold"/>
                <a:ea typeface="Pretendard ExtraBold"/>
              </a:rPr>
              <a:t>검색마스터</a:t>
            </a: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      </a:t>
            </a:r>
            <a:r>
              <a:rPr sz="1200" b="0" i="0">
                <a:solidFill>
                  <a:srgbClr val="0F4E53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pic>
        <p:nvPicPr>
          <p:cNvPr id="8" name="Picture 7" descr="sm_he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3108960"/>
            <a:ext cx="3611880" cy="1302857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pic>
        <p:nvPicPr>
          <p:cNvPr id="9" name="Picture 8" descr="f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108960"/>
            <a:ext cx="4983480" cy="1302349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1371600" y="4892040"/>
            <a:ext cx="944575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4E5964"/>
                </a:solidFill>
                <a:latin typeface="Pretendard"/>
                <a:ea typeface="Pretendard"/>
              </a:rPr>
              <a:t>상품명부터 상세페이지·영상·카드뉴스까지 —</a:t>
            </a:r>
          </a:p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2B333D"/>
                </a:solidFill>
                <a:latin typeface="Pretendard ExtraBold"/>
                <a:ea typeface="Pretendard ExtraBold"/>
              </a:rPr>
              <a:t>최근 새로 추가된 기능들</a:t>
            </a:r>
            <a:r>
              <a:rPr sz="1300" b="0" i="0">
                <a:solidFill>
                  <a:srgbClr val="4E5964"/>
                </a:solidFill>
                <a:latin typeface="Pretendard"/>
                <a:ea typeface="Pretendard"/>
              </a:rPr>
              <a:t>을 실제 화면으로 안내합니다.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992124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91440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먼저, 두 서비스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91F28"/>
                </a:solidFill>
                <a:latin typeface="Noto Serif KR"/>
                <a:ea typeface="Noto Serif KR"/>
              </a:rPr>
              <a:t>역할이 다른 두 가지 도구입니다.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5074920" cy="2331720"/>
          </a:xfrm>
          <a:prstGeom prst="roundRect">
            <a:avLst>
              <a:gd name="adj" fmla="val 7000"/>
            </a:avLst>
          </a:prstGeom>
          <a:solidFill>
            <a:srgbClr val="F2F6F5"/>
          </a:solidFill>
          <a:ln w="9525">
            <a:solidFill>
              <a:srgbClr val="CFDEDC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5603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91F28"/>
                </a:solidFill>
                <a:latin typeface="Noto Serif KR"/>
                <a:ea typeface="Noto Serif KR"/>
              </a:rPr>
              <a:t>검색마스터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57860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F4E53"/>
                </a:solidFill>
                <a:latin typeface="Pretendard SemiBold"/>
                <a:ea typeface="Pretendard SemiBold"/>
              </a:rPr>
              <a:t>상품명 생성기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27248"/>
            <a:ext cx="44348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2B333D"/>
                </a:solidFill>
                <a:latin typeface="Pretendard"/>
                <a:ea typeface="Pretendard"/>
              </a:rPr>
              <a:t>상품 사진과 설명을 읽고, 검색 노출에 맞춘 상품명과 키워드를 만들어 줍니다. 판매 채널에 따라 이름 짓는 기준이 달라집니다.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47E88"/>
                </a:solidFill>
                <a:latin typeface="Pretendard"/>
                <a:ea typeface="Pretendard"/>
              </a:rPr>
              <a:t>네이버쇼핑 · 쿠팡 · 일반몰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2286000"/>
            <a:ext cx="5074920" cy="2331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5603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91F28"/>
                </a:solidFill>
                <a:latin typeface="Noto Serif KR"/>
                <a:ea typeface="Noto Serif KR"/>
              </a:rPr>
              <a:t>프리캔버스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7072" y="257860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F4E53"/>
                </a:solidFill>
                <a:latin typeface="Pretendard SemiBold"/>
                <a:ea typeface="Pretendard SemiBold"/>
              </a:rPr>
              <a:t>상세페이지 생성기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3127248"/>
            <a:ext cx="44348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2B333D"/>
                </a:solidFill>
                <a:latin typeface="Pretendard"/>
                <a:ea typeface="Pretendard"/>
              </a:rPr>
              <a:t>제품 사진으로 상세페이지를 만들고, 1688 영상 번역·카드뉴스·상품 썸네일까지 한 곳에서 처리합니다.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47E88"/>
                </a:solidFill>
                <a:latin typeface="Pretendard"/>
                <a:ea typeface="Pretendard"/>
              </a:rPr>
              <a:t>상세페이지 · 영상 번역 · 카드뉴스 · 썸네일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074920"/>
            <a:ext cx="92354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상품명은 </a:t>
            </a:r>
            <a:r>
              <a:rPr sz="1250" b="0" i="0">
                <a:solidFill>
                  <a:srgbClr val="2B333D"/>
                </a:solidFill>
                <a:latin typeface="Pretendard ExtraBold"/>
                <a:ea typeface="Pretendard ExtraBold"/>
              </a:rPr>
              <a:t>검색 노출</a:t>
            </a: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을, 상세페이지는 </a:t>
            </a:r>
            <a:r>
              <a:rPr sz="1250" b="0" i="0">
                <a:solidFill>
                  <a:srgbClr val="2B333D"/>
                </a:solidFill>
                <a:latin typeface="Pretendard ExtraBold"/>
                <a:ea typeface="Pretendard ExtraBold"/>
              </a:rPr>
              <a:t>구매 전환</a:t>
            </a: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을 좌우합니다.</a:t>
            </a:r>
          </a:p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두 도구는 같은 구글 계정으로 이어져 있습니다.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첫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32688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91F28"/>
                </a:solidFill>
                <a:latin typeface="Noto Serif KR"/>
                <a:ea typeface="Noto Serif KR"/>
              </a:rPr>
              <a:t>세 가지 작업 중에 골라 시작합니다.</a:t>
            </a:r>
          </a:p>
        </p:txBody>
      </p:sp>
      <p:pic>
        <p:nvPicPr>
          <p:cNvPr id="7" name="Picture 6" descr="fc_m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10543032" cy="1286250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22960" y="3206489"/>
            <a:ext cx="29260" cy="566928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179057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새 상세페이지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제품 사진과 정보를 넣으면 상세페이지를 처음부터 만들어 줍니다.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956297"/>
            <a:ext cx="29260" cy="566928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28865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91F28"/>
                </a:solidFill>
                <a:latin typeface="Pretendard ExtraBold"/>
                <a:ea typeface="Pretendard ExtraBold"/>
              </a:rPr>
              <a:t>기존 상세페이지 편집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이미 있는 상세 캡처를 올려 블록 단위로 수정합니다.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06105"/>
            <a:ext cx="29260" cy="566928"/>
          </a:xfrm>
          <a:prstGeom prst="rect">
            <a:avLst/>
          </a:prstGeom>
          <a:solidFill>
            <a:srgbClr val="191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78673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91F28"/>
                </a:solidFill>
                <a:latin typeface="Pretendard ExtraBold"/>
                <a:ea typeface="Pretendard ExtraBold"/>
              </a:rPr>
              <a:t>1688 영상 번역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중국 상품 영상을 한국어 자막·더빙 영상으로 바꿉니다.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83345"/>
            <a:ext cx="5943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결과물 종류는 일반·의류·과일채소 상세페이지에 </a:t>
            </a:r>
            <a:r>
              <a:rPr sz="1100" b="0" i="0">
                <a:solidFill>
                  <a:srgbClr val="2B333D"/>
                </a:solidFill>
                <a:latin typeface="Pretendard ExtraBold"/>
                <a:ea typeface="Pretendard ExtraBold"/>
              </a:rPr>
              <a:t>카드뉴스</a:t>
            </a: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, </a:t>
            </a:r>
            <a:r>
              <a:rPr sz="1100" b="0" i="0">
                <a:solidFill>
                  <a:srgbClr val="2B333D"/>
                </a:solidFill>
                <a:latin typeface="Pretendard ExtraBold"/>
                <a:ea typeface="Pretendard ExtraBold"/>
              </a:rPr>
              <a:t>상품 썸네일</a:t>
            </a: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까지 다섯 가지입니다.</a:t>
            </a:r>
          </a:p>
        </p:txBody>
      </p:sp>
      <p:pic>
        <p:nvPicPr>
          <p:cNvPr id="15" name="Picture 14" descr="fc_typ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24777"/>
            <a:ext cx="1783080" cy="2473054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상품 링크로 빠른 시작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소싱한 상품의 주소만 붙여넣으면, 이미지와 상품 정보가 자동으로 담깁니다.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스마트스토어·1688 링크 불러오기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상품 주소를 붙여넣으면 새 창이 열려 상세 내용과 이미지를 가져옵니다. 최근 업데이트로 속도가 눈에 띄게 빨라졌습니다.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상품 아닌 이미지는 AI가 거릅니다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공지·구매평·할인 배너처럼 상세에 못 쓰는 이미지를 알아서 빼고, 중국어 문구도 한국어 기준으로 정리합니다.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확장 프로그램은 한 번만 설치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웹스토어 버튼과 설치 안내가 화면 안에 있습니다. 처음 한 번만 설치하면 다음부터는 붙여넣기만 하면 됩니다.</a:t>
            </a:r>
          </a:p>
        </p:txBody>
      </p:sp>
      <p:pic>
        <p:nvPicPr>
          <p:cNvPr id="15" name="Picture 14" descr="fc_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83080"/>
            <a:ext cx="4892040" cy="269062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83430"/>
            <a:ext cx="54406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링크마다 “불러오기” 버튼 하나 — 가격·비상품 이미지는 자동으로 걸러집니다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두 서비스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91F28"/>
                </a:solidFill>
                <a:latin typeface="Noto Serif KR"/>
                <a:ea typeface="Noto Serif KR"/>
              </a:rPr>
              <a:t>프리캔버스 상단 메뉴에서 </a:t>
            </a:r>
            <a:r>
              <a:rPr sz="2200" b="1" i="0">
                <a:solidFill>
                  <a:srgbClr val="0F4E53"/>
                </a:solidFill>
                <a:latin typeface="Noto Serif KR"/>
                <a:ea typeface="Noto Serif KR"/>
              </a:rPr>
              <a:t>검색마스터</a:t>
            </a:r>
            <a:r>
              <a:rPr sz="2200" b="1" i="0">
                <a:solidFill>
                  <a:srgbClr val="191F28"/>
                </a:solidFill>
                <a:latin typeface="Noto Serif KR"/>
                <a:ea typeface="Noto Serif KR"/>
              </a:rPr>
              <a:t>로 바로 이동합니다.</a:t>
            </a:r>
          </a:p>
        </p:txBody>
      </p:sp>
      <p:pic>
        <p:nvPicPr>
          <p:cNvPr id="7" name="Picture 6" descr="fc_na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783080"/>
            <a:ext cx="9994392" cy="616321"/>
          </a:xfrm>
          <a:prstGeom prst="rect">
            <a:avLst/>
          </a:prstGeom>
          <a:ln w="12700">
            <a:solidFill>
              <a:srgbClr val="D9D3C5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6014520" y="1732788"/>
            <a:ext cx="929478" cy="716904"/>
          </a:xfrm>
          <a:prstGeom prst="ellipse">
            <a:avLst/>
          </a:prstGeom>
          <a:noFill/>
          <a:ln w="28575">
            <a:solidFill>
              <a:srgbClr val="0F4E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27416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상단 메뉴 속 「검색마스터」 — 실제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FFDF7"/>
          </a:solidFill>
          <a:ln w="9525">
            <a:solidFill>
              <a:srgbClr val="D9D3C5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8132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91F28"/>
                </a:solidFill>
                <a:latin typeface="Noto Serif KR"/>
                <a:ea typeface="Noto Serif KR"/>
              </a:rPr>
              <a:t>프리캔버스에서 작업하다가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상세페이지를 만들다 상품명이나 키워드가 필요해지면,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566160"/>
            <a:ext cx="1051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400" b="1" i="0">
                <a:solidFill>
                  <a:srgbClr val="0F4E53"/>
                </a:solidFill>
                <a:latin typeface="Pretendard"/>
                <a:ea typeface="Pretendard"/>
              </a:rPr>
              <a:t>→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0B3B3F"/>
                </a:solidFill>
                <a:latin typeface="Pretendard ExtraBold"/>
                <a:ea typeface="Pretendard ExtraBold"/>
              </a:rPr>
              <a:t>버튼 한 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2F6F5"/>
          </a:solidFill>
          <a:ln w="9525">
            <a:solidFill>
              <a:srgbClr val="CFDEDC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0488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91F28"/>
                </a:solidFill>
                <a:latin typeface="Noto Serif KR"/>
                <a:ea typeface="Noto Serif KR"/>
              </a:rPr>
              <a:t>검색마스터가 새 탭으로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쓰던 구글 계정 그대로 열립니다. 다시 로그인할 필요가 없습니다.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5230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91F28"/>
                </a:solidFill>
                <a:latin typeface="Pretendard SemiBold"/>
                <a:ea typeface="Pretendard SemiBold"/>
              </a:rPr>
              <a:t>● 하나의 구글 계정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53309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으로 두 서비스를 오갑니다. 구독은 서비스별로 따로 적용됩니다.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검색마스터 새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상품 설명 입력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사진과 함께 상품 설명을 입력하면, 상품명이 눈에 띄게 정확해집니다.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실제 상품·용도 설명 입력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“책상 위에 놓는 무선 충전 겸용 스탠드”처럼 한 줄만 적으면, 사진만으로는 놓치기 쉬운 재질과 용도까지 상품명에 담깁니다.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🛍️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판매 채널별 상품명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네이버쇼핑=노출 폭(탐색형 검색어까지 넓게) · 쿠팡=구매 판단(정체성·속성 먼저) · 일반몰=가독성(읽기 좋은 순서).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업로드·생성 화면 개선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사진을 올리면 바로 보이고, 생성 진행 상태도 화면에 그대로 표시됩니다.</a:t>
            </a:r>
          </a:p>
        </p:txBody>
      </p:sp>
      <p:pic>
        <p:nvPicPr>
          <p:cNvPr id="15" name="Picture 14" descr="sm_res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097280"/>
            <a:ext cx="3931920" cy="3402623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609631"/>
            <a:ext cx="44805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사진 한 장으로 최종 제목과 AI 모델별 후보까지 — 실제 결과</a:t>
            </a:r>
          </a:p>
        </p:txBody>
      </p:sp>
      <p:pic>
        <p:nvPicPr>
          <p:cNvPr id="17" name="Picture 16" descr="sm_rec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957103"/>
            <a:ext cx="3931920" cy="325039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8" name="TextBox 17"/>
          <p:cNvSpPr txBox="1"/>
          <p:nvPr/>
        </p:nvSpPr>
        <p:spPr>
          <a:xfrm>
            <a:off x="5989320" y="5507702"/>
            <a:ext cx="44805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실제 생성 결과 — 복사해서 바로 씁니다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기존 상세페이지 편집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긴 상세 캡처를 올리면 블록 단위로 나뉘어, 원하는 부분만 고칠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캡처가 편집 블록으로 나뉩니다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길게 이어진 상세 이미지를 내용 경계에 맞춰 이미지 블록과 글 블록으로 자동 분리합니다.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↔️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나뉜 경계는 드래그로 조정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잘린 위치가 아쉬우면 경계선을 마우스로 끌어 원하는 지점에서 다시 자릅니다.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이미지 속 글자 수정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이미지 안 문구를 골라 내용을 고치고 글꼴을 정하면, 그대로 다시 그려 줍니다.</a:t>
            </a:r>
          </a:p>
        </p:txBody>
      </p:sp>
      <p:pic>
        <p:nvPicPr>
          <p:cNvPr id="15" name="Picture 14" descr="ocr_e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71600"/>
            <a:ext cx="4160520" cy="3600035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5081363"/>
            <a:ext cx="47091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이미지 속 문구 수정 — 파란 박스가 인식된 텍스트 영역입니다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1688 영상 번역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중국어 상품 영상을 쇼츠형 한국어 영상으로 바꿔 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자막을 자연스러운 한국어로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중국어 문구를 지우고, AI가 대본을 한국어답게 다듬은 자막을 입힙니다. 번역투가 아니라 읽히는 문장입니다.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한국어 더빙, 원하면 음소거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자막에 맞춰 한국어 음성을 입히고, 음성 없이 자막만 남기는 선택도 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쇼츠 템플릿으로 저장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쇼츠 헤드라인 템플릿이 입혀진 9:16 MP4로 저장되고, SRT·VTT 자막 파일도 함께 나옵니다.</a:t>
            </a:r>
          </a:p>
        </p:txBody>
      </p:sp>
      <p:pic>
        <p:nvPicPr>
          <p:cNvPr id="15" name="Picture 14" descr="v1688_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65960"/>
            <a:ext cx="5029200" cy="195468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030370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완료된 작업 목록 — 쇼츠 템플릿·더빙 설정이 남고, MP4·SRT·VTT로 내려받습니다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카드뉴스 만들기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홍보용 카드뉴스 여러 장을 한 번에 만듭니다. 사진이 없어도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내용만 적으면 여러 장이 한 번에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주제와 하고 싶은 말을 적으면, 넘겨보는 카드 여러 장이 순서대로 만들어집니다.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모든 장의 디자인 통일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색·글꼴·구성을 먼저 정하고 그리기 때문에, 장마다 분위기가 달라지지 않습니다.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🛠️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장마다 버튼 하나로 수정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상품 크게 · 여백 정리 · 고급스럽게 · 문구 짧게 · 배경만 변경 · 글자 없는 버전 — 버튼으로 바로 고칩니다.</a:t>
            </a:r>
          </a:p>
        </p:txBody>
      </p:sp>
      <p:pic>
        <p:nvPicPr>
          <p:cNvPr id="15" name="Picture 14" descr="cn_gr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011680"/>
            <a:ext cx="5074920" cy="238521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06620"/>
            <a:ext cx="56235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실제 생성 결과 — 카드마다 템플릿과 빠른 수정 버튼이 붙습니다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GIF 만들기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완성된 상세 이미지를 움직이는 GIF로 만들어, 상세페이지에서 시선을 잡습니다.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🎞️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텍스트 없음 · 텍스트 유지, 두 가지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문구 없이 장면만 움직이는 GIF와 문구가 함께 든 GIF 중 골라 만듭니다.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상세페이지에 그대로 사용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움직이는 이미지가 한두 장 들어가면 스크롤이 멈춥니다. 스마트스토어 상세에 바로 올릴 수 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MP4 저장·전체저장 포함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만들어진 GIF 카드를 누르면 MP4 영상으로도 저장되고, 전체저장 ZIP 안 gifs 폴더에도 함께 담깁니다.</a:t>
            </a:r>
          </a:p>
        </p:txBody>
      </p:sp>
      <p:pic>
        <p:nvPicPr>
          <p:cNvPr id="15" name="Picture 14" descr="gif_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65960"/>
            <a:ext cx="5029200" cy="262524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00930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GIF 생성 버튼 — (2/2)는 만들 수 있는 남은 횟수입니다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AI 지우개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이미지에서 지우고 싶은 부분만 칠하면 지워집니다.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🖌️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워터마크·글자 지우기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소싱 이미지에 박힌 워터마크, 중국어 글자, 거슬리는 배경을 칠한 자리만 지웁니다.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기다림 없이 바로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편집 화면 안에서 곧바로 지워져, 다른 프로그램을 오갈 필요가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간단한 조작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복잡한 설정 없이, 문지르면 지워집니다.</a:t>
            </a:r>
          </a:p>
        </p:txBody>
      </p:sp>
      <p:pic>
        <p:nvPicPr>
          <p:cNvPr id="15" name="Picture 14" descr="eraser_u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371600"/>
            <a:ext cx="3886200" cy="3785159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pic>
        <p:nvPicPr>
          <p:cNvPr id="16" name="Picture 15" descr="eraser_ba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5248198"/>
            <a:ext cx="3886200" cy="349758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7" name="TextBox 16"/>
          <p:cNvSpPr txBox="1"/>
          <p:nvPr/>
        </p:nvSpPr>
        <p:spPr>
          <a:xfrm>
            <a:off x="6446520" y="5689396"/>
            <a:ext cx="4434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Canvas 편집 속 AI 지우개 — 붓 크기를 정해 문지르고 적용을 누르면 지워집니다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저장할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플랫폼별 사이즈로 전체저장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저장할 때 판매 플랫폼을 고르면, 그 플랫폼 규격에 맞는 폭으로 저장됩니다.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플랫폼 규격 자동 맞춤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스마트스토어 860px · 쿠팡 780px · 11번가 831px · 카페24 1000px · 자사몰 1080px.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HTML 초안 포함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이미지와 함께 상세페이지 HTML 초안이 저장되어, 플랫폼 에디터에 붙여넣기만 하면 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저장 전 자동 점검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옵션 이미지·상품정보제공고시·GIF·누락 이미지를 저장 전에 한 번에 확인해 줍니다.</a:t>
            </a:r>
          </a:p>
        </p:txBody>
      </p:sp>
      <p:pic>
        <p:nvPicPr>
          <p:cNvPr id="15" name="Picture 14" descr="save_mod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34440"/>
            <a:ext cx="2651760" cy="4476117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582028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저장 방식 선택 — 실제 화면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처음 쓰는 분이라면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단계별 사용법 안내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화면 위에 순서대로 안내가 떠서, 처음이어도 따라 하기만 하면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🗂️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결과물마다 다른 안내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일반·의류·과일채소·카드뉴스·썸네일 — 만들려는 것에 맞는 안내가 따로 준비되어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사진 올리기부터 저장까지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각 단계에서 무엇을 누르고 무엇을 입력하는지 화면 위에서 하나씩 짚어 줍니다.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언제든 다시 보기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첫 화면의 “사용법 보기”를 누르면 언제든 처음부터 다시 볼 수 있습니다.</a:t>
            </a:r>
          </a:p>
        </p:txBody>
      </p:sp>
      <p:pic>
        <p:nvPicPr>
          <p:cNvPr id="15" name="Picture 14" descr="fc_gu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71600"/>
            <a:ext cx="3657600" cy="3237186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1851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“1단계: 제품 사진 올리기” — 상단 탭에서 결과물별 안내를 고릅니다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실제 작업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91F28"/>
                </a:solidFill>
                <a:latin typeface="Noto Serif KR"/>
                <a:ea typeface="Noto Serif KR"/>
              </a:rPr>
              <a:t>상품 등록, 이 순서로 하면 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9540" y="2194560"/>
            <a:ext cx="18288" cy="969264"/>
          </a:xfrm>
          <a:prstGeom prst="rect">
            <a:avLst/>
          </a:prstGeom>
          <a:solidFill>
            <a:srgbClr val="D9D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1단계</a:t>
            </a:r>
          </a:p>
        </p:txBody>
      </p:sp>
      <p:sp>
        <p:nvSpPr>
          <p:cNvPr id="9" name="Oval 8"/>
          <p:cNvSpPr/>
          <p:nvPr/>
        </p:nvSpPr>
        <p:spPr>
          <a:xfrm>
            <a:off x="2212848" y="1993392"/>
            <a:ext cx="132588" cy="132588"/>
          </a:xfrm>
          <a:prstGeom prst="ellipse">
            <a:avLst/>
          </a:prstGeom>
          <a:solidFill>
            <a:srgbClr val="0F4E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06040" y="1920240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B3B3F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258568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소싱 링크 붙여넣기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스마트스토어·1688 상품 주소로 이미지와 상품 정보를 가져옵니다.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9540" y="3273552"/>
            <a:ext cx="18288" cy="969264"/>
          </a:xfrm>
          <a:prstGeom prst="rect">
            <a:avLst/>
          </a:prstGeom>
          <a:solidFill>
            <a:srgbClr val="D9D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044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2단계</a:t>
            </a:r>
          </a:p>
        </p:txBody>
      </p:sp>
      <p:sp>
        <p:nvSpPr>
          <p:cNvPr id="14" name="Oval 13"/>
          <p:cNvSpPr/>
          <p:nvPr/>
        </p:nvSpPr>
        <p:spPr>
          <a:xfrm>
            <a:off x="2212848" y="3072384"/>
            <a:ext cx="132588" cy="132588"/>
          </a:xfrm>
          <a:prstGeom prst="ellipse">
            <a:avLst/>
          </a:prstGeom>
          <a:solidFill>
            <a:srgbClr val="0F4E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6040" y="2999232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F4E53"/>
                </a:solidFill>
                <a:latin typeface="Pretendard SemiBold"/>
                <a:ea typeface="Pretendard SemiBold"/>
              </a:rPr>
              <a:t>검색마스터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337560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상품명·키워드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상단 메뉴로 이동해 사진과 설명을 넣고, 판매 채널에 맞는 상품명을 만듭니다.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9540" y="4352544"/>
            <a:ext cx="18288" cy="969264"/>
          </a:xfrm>
          <a:prstGeom prst="rect">
            <a:avLst/>
          </a:prstGeom>
          <a:solidFill>
            <a:srgbClr val="D9D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239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3단계</a:t>
            </a:r>
          </a:p>
        </p:txBody>
      </p:sp>
      <p:sp>
        <p:nvSpPr>
          <p:cNvPr id="19" name="Oval 18"/>
          <p:cNvSpPr/>
          <p:nvPr/>
        </p:nvSpPr>
        <p:spPr>
          <a:xfrm>
            <a:off x="2212848" y="4151376"/>
            <a:ext cx="132588" cy="132588"/>
          </a:xfrm>
          <a:prstGeom prst="ellipse">
            <a:avLst/>
          </a:prstGeom>
          <a:solidFill>
            <a:srgbClr val="0F4E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06040" y="4078224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B3B3F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416552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상세·영상·카드뉴스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같은 재료로 상세페이지를 만들고, 필요하면 영상 번역과 카드뉴스까지 뽑습니다.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029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4단계</a:t>
            </a:r>
          </a:p>
        </p:txBody>
      </p:sp>
      <p:sp>
        <p:nvSpPr>
          <p:cNvPr id="23" name="Oval 22"/>
          <p:cNvSpPr/>
          <p:nvPr/>
        </p:nvSpPr>
        <p:spPr>
          <a:xfrm>
            <a:off x="2212848" y="5230368"/>
            <a:ext cx="132588" cy="132588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606040" y="5157216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D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 SemiBold"/>
                <a:ea typeface="Pretendard SemiBold"/>
              </a:rPr>
              <a:t>셀러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495544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플랫폼에 등록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완성본을 내려받아 판매 플랫폼에 그대로 올립니다.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0F4E53"/>
                </a:solidFill>
                <a:latin typeface="Pretendard ExtraBold"/>
                <a:ea typeface="Pretendard ExtraBold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36015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91F28"/>
                </a:solidFill>
                <a:latin typeface="Noto Serif KR"/>
                <a:ea typeface="Noto Serif KR"/>
              </a:rPr>
              <a:t>다음 상품부터</a:t>
            </a:r>
          </a:p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91F28"/>
                </a:solidFill>
                <a:latin typeface="Noto Serif KR"/>
                <a:ea typeface="Noto Serif KR"/>
              </a:rPr>
              <a:t>바로 써 보세요.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72184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B333D"/>
                </a:solidFill>
                <a:latin typeface="Pretendard ExtraBold"/>
                <a:ea typeface="Pretendard ExtraBold"/>
              </a:rPr>
              <a:t>🔑 로그인은 한 번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E5964"/>
                </a:solidFill>
                <a:latin typeface="Pretendard"/>
                <a:ea typeface="Pretendard"/>
              </a:rPr>
              <a:t>구글 계정 하나로 두 서비스를 자유롭게 오갑니다.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7136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B333D"/>
                </a:solidFill>
                <a:latin typeface="Pretendard ExtraBold"/>
                <a:ea typeface="Pretendard ExtraBold"/>
              </a:rPr>
              <a:t>🧭 역할 분담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E5964"/>
                </a:solidFill>
                <a:latin typeface="Pretendard"/>
                <a:ea typeface="Pretendard"/>
              </a:rPr>
              <a:t>상품명·키워드는 검색마스터, 상세페이지·영상·카드뉴스는 프리캔버스.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99832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7576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B333D"/>
                </a:solidFill>
                <a:latin typeface="Pretendard ExtraBold"/>
                <a:ea typeface="Pretendard ExtraBold"/>
              </a:rPr>
              <a:t>✨ 새로 추가된 기능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E5964"/>
                </a:solidFill>
                <a:latin typeface="Pretendard"/>
                <a:ea typeface="Pretendard"/>
              </a:rPr>
              <a:t>설명 입력 · 링크 불러오기 · 영상 번역 · 상세 편집 · 카드뉴스 · 지우개.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1234440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4F0E6"/>
          </a:solidFill>
          <a:ln w="9525">
            <a:solidFill>
              <a:srgbClr val="D9D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0F4E53"/>
                </a:solidFill>
                <a:latin typeface="Pretendard ExtraBold"/>
                <a:ea typeface="Pretendard ExtraBold"/>
              </a:rPr>
              <a:t>검색마스터 — 상품명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0F4E53"/>
                </a:solidFill>
                <a:latin typeface="Pretendard ExtraBold"/>
                <a:ea typeface="Pretendard ExtraBold"/>
              </a:rPr>
              <a:t>ramiteacher.github.io/product-title-ai</a:t>
            </a:r>
          </a:p>
        </p:txBody>
      </p:sp>
      <p:sp>
        <p:nvSpPr>
          <p:cNvPr id="14" name="Rounded Rectangle 13">
            <a:hlinkClick r:id="rId3"/>
          </p:cNvPr>
          <p:cNvSpPr/>
          <p:nvPr/>
        </p:nvSpPr>
        <p:spPr>
          <a:xfrm>
            <a:off x="6163056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4F0E6"/>
          </a:solidFill>
          <a:ln w="9525">
            <a:solidFill>
              <a:srgbClr val="D9D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— 상세페이지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0F4E53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0644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쓰다가 막히는 게 있으면, 화면 아래 </a:t>
            </a:r>
            <a:r>
              <a:rPr sz="1050" b="0" i="0">
                <a:solidFill>
                  <a:srgbClr val="2B333D"/>
                </a:solidFill>
                <a:latin typeface="Pretendard ExtraBold"/>
                <a:ea typeface="Pretendard ExtraBold"/>
              </a:rPr>
              <a:t>'고객센터 문의하기'</a:t>
            </a: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로 편하게 남겨 주세요.</a:t>
            </a:r>
          </a:p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B333D"/>
                </a:solidFill>
                <a:latin typeface="Noto Serif KR"/>
                <a:ea typeface="Noto Serif KR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