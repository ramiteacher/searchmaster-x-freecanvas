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amiteacher.github.io/product-title-ai/" TargetMode="External"/><Relationship Id="rId3" Type="http://schemas.openxmlformats.org/officeDocument/2006/relationships/hyperlink" Target="https://www.freecanvas.ai.kr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777240"/>
            <a:ext cx="944575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 spc="140">
                <a:solidFill>
                  <a:srgbClr val="0F4E53"/>
                </a:solidFill>
                <a:latin typeface="Pretendard ExtraBold"/>
                <a:ea typeface="Pretendard ExtraBold"/>
              </a:rPr>
              <a:t>온라인셀러를 위한 도구 소개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143000"/>
            <a:ext cx="10360152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" b="1" i="0">
                <a:solidFill>
                  <a:srgbClr val="191F28"/>
                </a:solidFill>
                <a:latin typeface="Noto Serif KR"/>
                <a:ea typeface="Noto Serif KR"/>
              </a:rPr>
              <a:t>검색마스터 </a:t>
            </a:r>
            <a:r>
              <a:rPr sz="3800" b="1" i="0">
                <a:solidFill>
                  <a:srgbClr val="0F4E53"/>
                </a:solidFill>
                <a:latin typeface="Noto Serif KR"/>
                <a:ea typeface="Noto Serif KR"/>
              </a:rPr>
              <a:t>×</a:t>
            </a:r>
            <a:r>
              <a:rPr sz="3800" b="1" i="0">
                <a:solidFill>
                  <a:srgbClr val="191F28"/>
                </a:solidFill>
                <a:latin typeface="Noto Serif KR"/>
                <a:ea typeface="Noto Serif KR"/>
              </a:rPr>
              <a:t> 프리캔버스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103120"/>
            <a:ext cx="94457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E5964"/>
                </a:solidFill>
                <a:latin typeface="Pretendard SemiBold"/>
                <a:ea typeface="Pretendard SemiBold"/>
              </a:rPr>
              <a:t>상품명 생성기 · 상세페이지 생성기 — 새 기능 소개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542032"/>
            <a:ext cx="944575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0F4E53"/>
                </a:solidFill>
                <a:latin typeface="Pretendard ExtraBold"/>
                <a:ea typeface="Pretendard ExtraBold"/>
              </a:rPr>
              <a:t>검색마스터</a:t>
            </a: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      </a:t>
            </a:r>
            <a:r>
              <a:rPr sz="1200" b="0" i="0">
                <a:solidFill>
                  <a:srgbClr val="0F4E53"/>
                </a:solidFill>
                <a:latin typeface="Pretendard ExtraBold"/>
                <a:ea typeface="Pretendard ExtraBold"/>
              </a:rPr>
              <a:t>www.freecanvas.ai.kr</a:t>
            </a:r>
          </a:p>
        </p:txBody>
      </p:sp>
      <p:pic>
        <p:nvPicPr>
          <p:cNvPr id="8" name="Picture 7" descr="sm_he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19" y="3108960"/>
            <a:ext cx="3611880" cy="1302857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pic>
        <p:nvPicPr>
          <p:cNvPr id="9" name="Picture 8" descr="fc_he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3108960"/>
            <a:ext cx="4983480" cy="1302349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1371600" y="4892040"/>
            <a:ext cx="944575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 i="0">
                <a:solidFill>
                  <a:srgbClr val="4E5964"/>
                </a:solidFill>
                <a:latin typeface="Pretendard"/>
                <a:ea typeface="Pretendard"/>
              </a:rPr>
              <a:t>상품명부터 상세페이지·영상·카드뉴스까지 —</a:t>
            </a:r>
          </a:p>
          <a:p>
            <a:pPr algn="ctr">
              <a:lnSpc>
                <a:spcPct val="150000"/>
              </a:lnSpc>
            </a:pPr>
            <a:r>
              <a:rPr sz="1300" b="0" i="0">
                <a:solidFill>
                  <a:srgbClr val="2B333D"/>
                </a:solidFill>
                <a:latin typeface="Pretendard ExtraBold"/>
                <a:ea typeface="Pretendard ExtraBold"/>
              </a:rPr>
              <a:t>최근 새로 추가된 기능들</a:t>
            </a:r>
            <a:r>
              <a:rPr sz="1300" b="0" i="0">
                <a:solidFill>
                  <a:srgbClr val="4E5964"/>
                </a:solidFill>
                <a:latin typeface="Pretendard"/>
                <a:ea typeface="Pretendard"/>
              </a:rPr>
              <a:t>을 실제 화면으로 안내합니다.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992124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91440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먼저, 두 서비스 소개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91F28"/>
                </a:solidFill>
                <a:latin typeface="Noto Serif KR"/>
                <a:ea typeface="Noto Serif KR"/>
              </a:rPr>
              <a:t>역할이 다른 두 가지 도구입니다.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286000"/>
            <a:ext cx="5074920" cy="2331720"/>
          </a:xfrm>
          <a:prstGeom prst="roundRect">
            <a:avLst>
              <a:gd name="adj" fmla="val 7000"/>
            </a:avLst>
          </a:prstGeom>
          <a:solidFill>
            <a:srgbClr val="F2F6F5"/>
          </a:solidFill>
          <a:ln w="9525">
            <a:solidFill>
              <a:srgbClr val="CFDEDC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56032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91F28"/>
                </a:solidFill>
                <a:latin typeface="Noto Serif KR"/>
                <a:ea typeface="Noto Serif KR"/>
              </a:rPr>
              <a:t>검색마스터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2578608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E6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0F4E53"/>
                </a:solidFill>
                <a:latin typeface="Pretendard SemiBold"/>
                <a:ea typeface="Pretendard SemiBold"/>
              </a:rPr>
              <a:t>상품명 생성기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127248"/>
            <a:ext cx="44348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150" b="0" i="0">
                <a:solidFill>
                  <a:srgbClr val="2B333D"/>
                </a:solidFill>
                <a:latin typeface="Pretendard"/>
                <a:ea typeface="Pretendard"/>
              </a:rPr>
              <a:t>상품 사진과 설명을 읽고, 검색 노출에 맞춘 상품명과 키워드를 만들어 줍니다. 판매 채널에 따라 이름 짓는 기준이 달라집니다.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747E88"/>
                </a:solidFill>
                <a:latin typeface="Pretendard"/>
                <a:ea typeface="Pretendard"/>
              </a:rPr>
              <a:t>네이버쇼핑 · 쿠팡 · 일반몰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2286000"/>
            <a:ext cx="5074920" cy="23317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1112" y="256032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91F28"/>
                </a:solidFill>
                <a:latin typeface="Noto Serif KR"/>
                <a:ea typeface="Noto Serif KR"/>
              </a:rPr>
              <a:t>프리캔버스 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7072" y="2578608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E6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0F4E53"/>
                </a:solidFill>
                <a:latin typeface="Pretendard SemiBold"/>
                <a:ea typeface="Pretendard SemiBold"/>
              </a:rPr>
              <a:t>상세페이지 생성기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112" y="3127248"/>
            <a:ext cx="44348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150" b="0" i="0">
                <a:solidFill>
                  <a:srgbClr val="2B333D"/>
                </a:solidFill>
                <a:latin typeface="Pretendard"/>
                <a:ea typeface="Pretendard"/>
              </a:rPr>
              <a:t>제품 사진으로 상세페이지를 만들고, 1688 영상 번역·카드뉴스·상품 썸네일까지 한 곳에서 처리합니다.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747E88"/>
                </a:solidFill>
                <a:latin typeface="Pretendard"/>
                <a:ea typeface="Pretendard"/>
              </a:rPr>
              <a:t>상세페이지 · 영상 번역 · 카드뉴스 · 썸네일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5074920"/>
            <a:ext cx="92354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250" b="0" i="0">
                <a:solidFill>
                  <a:srgbClr val="2B333D"/>
                </a:solidFill>
                <a:latin typeface="Pretendard"/>
                <a:ea typeface="Pretendard"/>
              </a:rPr>
              <a:t>상품명은 </a:t>
            </a:r>
            <a:r>
              <a:rPr sz="1250" b="0" i="0">
                <a:solidFill>
                  <a:srgbClr val="2B333D"/>
                </a:solidFill>
                <a:latin typeface="Pretendard ExtraBold"/>
                <a:ea typeface="Pretendard ExtraBold"/>
              </a:rPr>
              <a:t>검색 노출</a:t>
            </a:r>
            <a:r>
              <a:rPr sz="1250" b="0" i="0">
                <a:solidFill>
                  <a:srgbClr val="2B333D"/>
                </a:solidFill>
                <a:latin typeface="Pretendard"/>
                <a:ea typeface="Pretendard"/>
              </a:rPr>
              <a:t>을, 상세페이지는 </a:t>
            </a:r>
            <a:r>
              <a:rPr sz="1250" b="0" i="0">
                <a:solidFill>
                  <a:srgbClr val="2B333D"/>
                </a:solidFill>
                <a:latin typeface="Pretendard ExtraBold"/>
                <a:ea typeface="Pretendard ExtraBold"/>
              </a:rPr>
              <a:t>구매 전환</a:t>
            </a:r>
            <a:r>
              <a:rPr sz="1250" b="0" i="0">
                <a:solidFill>
                  <a:srgbClr val="2B333D"/>
                </a:solidFill>
                <a:latin typeface="Pretendard"/>
                <a:ea typeface="Pretendard"/>
              </a:rPr>
              <a:t>을 좌우합니다.</a:t>
            </a:r>
          </a:p>
          <a:p>
            <a:pPr algn="ctr">
              <a:lnSpc>
                <a:spcPct val="150000"/>
              </a:lnSpc>
            </a:pPr>
            <a:r>
              <a:rPr sz="1250" b="0" i="0">
                <a:solidFill>
                  <a:srgbClr val="2B333D"/>
                </a:solidFill>
                <a:latin typeface="Pretendard"/>
                <a:ea typeface="Pretendard"/>
              </a:rPr>
              <a:t>두 도구는 같은 구글 계정으로 이어져 있습니다.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검색마스터 새 기능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상품 설명 입력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사진과 함께 상품 설명을 입력하면, 상품명이 눈에 띄게 정확해집니다.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✏️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실제 상품·용도 설명 입력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“책상 위에 놓는 무선 충전 겸용 스탠드”처럼 한 줄만 적으면, 사진만으로는 놓치기 쉬운 재질과 용도까지 상품명에 담깁니다.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🛍️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판매 채널별 상품명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네이버쇼핑은 검색 노출 폭, 쿠팡은 구매 판단 키워드, 일반몰은 가독성 — 채널을 고르면 그에 맞춰 짓습니다.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업로드·생성 화면 개선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사진을 올리면 바로 보이고, 생성 진행 상태도 화면에 그대로 표시됩니다.</a:t>
            </a:r>
          </a:p>
        </p:txBody>
      </p:sp>
      <p:pic>
        <p:nvPicPr>
          <p:cNvPr id="15" name="Picture 14" descr="sm_ap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143000"/>
            <a:ext cx="3794760" cy="2929555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182282"/>
            <a:ext cx="4343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사진 · 판매 채널 · 상품 설명 · 키워드 — 한 화면 입력</a:t>
            </a:r>
          </a:p>
        </p:txBody>
      </p:sp>
      <p:pic>
        <p:nvPicPr>
          <p:cNvPr id="17" name="Picture 16" descr="sm_rece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4529754"/>
            <a:ext cx="3794760" cy="313700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8" name="TextBox 17"/>
          <p:cNvSpPr txBox="1"/>
          <p:nvPr/>
        </p:nvSpPr>
        <p:spPr>
          <a:xfrm>
            <a:off x="5989320" y="5063699"/>
            <a:ext cx="4343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실제 생성 결과 — 복사해서 바로 씁니다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첫 화면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32688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91F28"/>
                </a:solidFill>
                <a:latin typeface="Noto Serif KR"/>
                <a:ea typeface="Noto Serif KR"/>
              </a:rPr>
              <a:t>세 가지 작업 중에 골라 시작합니다.</a:t>
            </a:r>
          </a:p>
        </p:txBody>
      </p:sp>
      <p:pic>
        <p:nvPicPr>
          <p:cNvPr id="7" name="Picture 6" descr="fc_mod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10543032" cy="1286250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22960" y="3206489"/>
            <a:ext cx="29260" cy="566928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3179057"/>
            <a:ext cx="57607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191F28"/>
                </a:solidFill>
                <a:latin typeface="Pretendard ExtraBold"/>
                <a:ea typeface="Pretendard ExtraBold"/>
              </a:rPr>
              <a:t>새 상세페이지 만들기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제품 사진과 정보를 넣으면 상세페이지를 처음부터 만들어 줍니다.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956297"/>
            <a:ext cx="29260" cy="566928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3928865"/>
            <a:ext cx="57607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191F28"/>
                </a:solidFill>
                <a:latin typeface="Pretendard ExtraBold"/>
                <a:ea typeface="Pretendard ExtraBold"/>
              </a:rPr>
              <a:t>기존 상세페이지 편집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이미 있는 상세 캡처를 올려 블록 단위로 수정합니다.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06105"/>
            <a:ext cx="29260" cy="566928"/>
          </a:xfrm>
          <a:prstGeom prst="rect">
            <a:avLst/>
          </a:prstGeom>
          <a:solidFill>
            <a:srgbClr val="191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4678673"/>
            <a:ext cx="57607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191F28"/>
                </a:solidFill>
                <a:latin typeface="Pretendard ExtraBold"/>
                <a:ea typeface="Pretendard ExtraBold"/>
              </a:rPr>
              <a:t>1688 영상 번역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중국 상품 영상을 한국어 자막·더빙 영상으로 바꿉니다.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483345"/>
            <a:ext cx="5943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B333D"/>
                </a:solidFill>
                <a:latin typeface="Pretendard"/>
                <a:ea typeface="Pretendard"/>
              </a:rPr>
              <a:t>결과물 종류는 일반·의류·과일채소 상세페이지에 </a:t>
            </a:r>
            <a:r>
              <a:rPr sz="1100" b="0" i="0">
                <a:solidFill>
                  <a:srgbClr val="2B333D"/>
                </a:solidFill>
                <a:latin typeface="Pretendard ExtraBold"/>
                <a:ea typeface="Pretendard ExtraBold"/>
              </a:rPr>
              <a:t>카드뉴스</a:t>
            </a:r>
            <a:r>
              <a:rPr sz="1100" b="0" i="0">
                <a:solidFill>
                  <a:srgbClr val="2B333D"/>
                </a:solidFill>
                <a:latin typeface="Pretendard"/>
                <a:ea typeface="Pretendard"/>
              </a:rPr>
              <a:t>, </a:t>
            </a:r>
            <a:r>
              <a:rPr sz="1100" b="0" i="0">
                <a:solidFill>
                  <a:srgbClr val="2B333D"/>
                </a:solidFill>
                <a:latin typeface="Pretendard ExtraBold"/>
                <a:ea typeface="Pretendard ExtraBold"/>
              </a:rPr>
              <a:t>상품 썸네일</a:t>
            </a:r>
            <a:r>
              <a:rPr sz="1100" b="0" i="0">
                <a:solidFill>
                  <a:srgbClr val="2B333D"/>
                </a:solidFill>
                <a:latin typeface="Pretendard"/>
                <a:ea typeface="Pretendard"/>
              </a:rPr>
              <a:t>까지 다섯 가지입니다.</a:t>
            </a:r>
          </a:p>
        </p:txBody>
      </p:sp>
      <p:pic>
        <p:nvPicPr>
          <p:cNvPr id="15" name="Picture 14" descr="fc_typ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3224777"/>
            <a:ext cx="1783080" cy="2473054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Rounded Rectangle 15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새 기능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상품 링크로 빠른 시작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소싱한 상품의 주소만 붙여넣으면, 이미지와 상품 정보가 자동으로 담깁니다.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스마트스토어·1688 링크 불러오기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상품 주소를 붙여넣으면 새 창이 열려 상세 내용과 이미지를 가져옵니다. 최근 업데이트로 속도가 눈에 띄게 빨라졌습니다.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상품 아닌 이미지는 AI가 거릅니다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공지·구매평·할인 배너처럼 상세에 못 쓰는 이미지를 알아서 빼고, 중국어 문구도 한국어 기준으로 정리합니다.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확장 프로그램은 한 번만 설치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웹스토어 버튼과 설치 안내가 화면 안에 있습니다. 처음 한 번만 설치하면 다음부터는 붙여넣기만 하면 됩니다.</a:t>
            </a:r>
          </a:p>
        </p:txBody>
      </p:sp>
      <p:pic>
        <p:nvPicPr>
          <p:cNvPr id="15" name="Picture 14" descr="fc_lin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783080"/>
            <a:ext cx="4892040" cy="2690622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583430"/>
            <a:ext cx="544067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스마트스토어 링크와 1688 링크, 각각 “불러오기” 버튼 하나로 끝납니다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새 기능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1688 영상 번역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중국어 상품 영상을 쇼츠형 한국어 영상으로 바꿔 줍니다.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자막을 자연스러운 한국어로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중국어 문구를 지우고, AI가 대본을 한국어답게 다듬은 자막을 입힙니다. 번역투가 아니라 읽히는 문장입니다.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한국어 더빙, 원하면 음소거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자막에 맞춰 한국어 음성을 입히고, 음성 없이 자막만 남기는 선택도 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쇼츠 템플릿으로 저장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쇼츠 헤드라인 템플릿이 입혀진 9:16 MP4로 저장되고, SRT·VTT 자막 파일도 함께 나옵니다.</a:t>
            </a:r>
          </a:p>
        </p:txBody>
      </p:sp>
      <p:pic>
        <p:nvPicPr>
          <p:cNvPr id="15" name="Picture 14" descr="v1688_li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965960"/>
            <a:ext cx="5029200" cy="1954682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030370"/>
            <a:ext cx="5577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실제 작업 목록 — 템플릿·더빙 설정이 남고, MP4·SRT·VTT로 내려받습니다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새 기능 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기존 상세페이지 편집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긴 상세 캡처를 올리면 블록 단위로 나뉘어, 원하는 부분만 고칠 수 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캡처가 편집 블록으로 나뉩니다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길게 이어진 상세 이미지를 내용 경계에 맞춰 이미지 블록과 글 블록으로 자동 분리합니다.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↔️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나뉜 경계는 드래그로 조정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잘린 위치가 아쉬우면 경계선을 마우스로 끌어 원하는 지점에서 다시 자릅니다.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✏️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이미지 속 글자 수정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이미지 안 문구를 골라 내용을 고치고 글꼴을 정하면, 그대로 다시 그려 줍니다.</a:t>
            </a:r>
          </a:p>
        </p:txBody>
      </p:sp>
      <p:pic>
        <p:nvPicPr>
          <p:cNvPr id="15" name="Picture 14" descr="fc_ed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874519"/>
            <a:ext cx="4983480" cy="2382103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366351"/>
            <a:ext cx="5532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캡처를 올리면 이미지·텍스트 블록으로 정리됩니다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새 기능 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카드뉴스 만들기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홍보용 카드뉴스 여러 장을 한 번에 만듭니다. 사진이 없어도 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내용만 적으면 여러 장이 한 번에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주제와 하고 싶은 말을 적으면, 넘겨보는 카드 여러 장이 순서대로 만들어집니다.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모든 장의 디자인 통일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색·글꼴·구성을 먼저 정하고 그리기 때문에, 장마다 분위기가 달라지지 않습니다.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🛠️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장마다 버튼 하나로 수정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상품 크게 · 여백 정리 · 고급스럽게 · 문구 짧게 · 배경만 변경 · 글자 없는 버전 — 버튼으로 바로 고칩니다.</a:t>
            </a:r>
          </a:p>
        </p:txBody>
      </p:sp>
      <p:pic>
        <p:nvPicPr>
          <p:cNvPr id="15" name="Picture 14" descr="cn_gr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011680"/>
            <a:ext cx="5074920" cy="2385212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506620"/>
            <a:ext cx="56235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실제 생성 결과 — 카드마다 템플릿과 빠른 수정 버튼이 붙습니다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새 기능 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GIF 만들기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완성된 상세 이미지를 움직이는 GIF로 만들어, 상세페이지에서 시선을 잡습니다.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🎞️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텍스트 없음 · 텍스트 유지, 두 가지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문구 없이 장면만 움직이는 GIF와 문구가 함께 든 GIF 중 골라 만듭니다.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상세페이지에 그대로 사용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움직이는 이미지가 한두 장 들어가면 스크롤이 멈춥니다. 스마트스토어 상세에 바로 올릴 수 있습니다.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MP4 저장·전체저장 포함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만들어진 GIF 카드를 누르면 MP4 영상으로도 저장되고, 전체저장 ZIP 안 gifs 폴더에도 함께 담깁니다.</a:t>
            </a:r>
          </a:p>
        </p:txBody>
      </p:sp>
      <p:pic>
        <p:nvPicPr>
          <p:cNvPr id="15" name="Picture 14" descr="gif_t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965960"/>
            <a:ext cx="5029200" cy="2625242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700930"/>
            <a:ext cx="5577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결과 화면의 GIF 생성 버튼 — 실제 화면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새 기능 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AI 지우개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이미지에서 지우고 싶은 부분만 칠하면 지워집니다.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🖌️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워터마크·글자 지우기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소싱 이미지에 박힌 워터마크, 중국어 글자, 거슬리는 배경을 칠한 자리만 지웁니다.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기다림 없이 바로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편집 화면 안에서 곧바로 지워져, 다른 프로그램을 오갈 필요가 없습니다.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간단한 조작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복잡한 설정 없이, 문지르면 지워집니다.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468880"/>
            <a:ext cx="2377440" cy="1783080"/>
          </a:xfrm>
          <a:prstGeom prst="roundRect">
            <a:avLst>
              <a:gd name="adj" fmla="val 10000"/>
            </a:avLst>
          </a:prstGeom>
          <a:solidFill>
            <a:srgbClr val="2B333D"/>
          </a:solidFill>
          <a:ln w="9525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 rot="20760000">
            <a:off x="6629400" y="306324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 spc="280">
                <a:solidFill>
                  <a:srgbClr val="9AA7B8"/>
                </a:solidFill>
                <a:latin typeface="Pretendard ExtraBold"/>
                <a:ea typeface="Pretendard ExtraBold"/>
              </a:rPr>
              <a:t>워터마크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66560" y="2926080"/>
            <a:ext cx="1645920" cy="685800"/>
          </a:xfrm>
          <a:prstGeom prst="roundRect">
            <a:avLst>
              <a:gd name="adj" fmla="val 50000"/>
            </a:avLst>
          </a:prstGeom>
          <a:noFill/>
          <a:ln w="22225">
            <a:solidFill>
              <a:srgbClr val="D5D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65392" y="3913632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2B333D"/>
                </a:solidFill>
                <a:latin typeface="Pretendard SemiBold"/>
                <a:ea typeface="Pretendard SemiBold"/>
              </a:rPr>
              <a:t>지우기 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2468880"/>
            <a:ext cx="2377440" cy="1783080"/>
          </a:xfrm>
          <a:prstGeom prst="roundRect">
            <a:avLst>
              <a:gd name="adj" fmla="val 10000"/>
            </a:avLst>
          </a:prstGeom>
          <a:solidFill>
            <a:srgbClr val="F2F6F5"/>
          </a:solidFill>
          <a:ln w="9525">
            <a:solidFill>
              <a:srgbClr val="CFDEDC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0" y="2743200"/>
            <a:ext cx="548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 i="0">
                <a:solidFill>
                  <a:srgbClr val="0F4E53"/>
                </a:solidFill>
                <a:latin typeface="Pretendard"/>
                <a:ea typeface="Pretendard"/>
              </a:rPr>
              <a:t>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71432" y="391363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FFFFFF"/>
                </a:solidFill>
                <a:latin typeface="Pretendard SemiBold"/>
                <a:ea typeface="Pretendard SemiBold"/>
              </a:rPr>
              <a:t>지운 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526280"/>
            <a:ext cx="4983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칠한 자리만 지워지고, 상품은 그대로 남습니다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저장할 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플랫폼별 사이즈로 전체저장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저장할 때 판매 플랫폼을 고르면, 그 플랫폼 규격에 맞는 폭으로 저장됩니다.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플랫폼 규격 자동 맞춤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스마트스토어 860px · 쿠팡 780px · 11번가 831px · 카페24 1000px · 자사몰 1080px.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HTML 초안 포함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이미지와 함께 상세페이지 HTML 초안이 저장되어, 플랫폼 에디터에 붙여넣기만 하면 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저장 전 자동 점검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옵션 이미지·상품정보제공고시·GIF·누락 이미지를 저장 전에 한 번에 확인해 줍니다.</a:t>
            </a:r>
          </a:p>
        </p:txBody>
      </p:sp>
      <p:pic>
        <p:nvPicPr>
          <p:cNvPr id="15" name="Picture 14" descr="save_mod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234440"/>
            <a:ext cx="2651760" cy="4476117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5820284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저장 방식 선택 — 실제 화면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처음 쓰는 분이라면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91F28"/>
                </a:solidFill>
                <a:latin typeface="Noto Serif KR"/>
                <a:ea typeface="Noto Serif KR"/>
              </a:rPr>
              <a:t>단계별 사용법 안내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E5964"/>
                </a:solidFill>
                <a:latin typeface="Pretendard"/>
                <a:ea typeface="Pretendard"/>
              </a:rPr>
              <a:t>화면 위에 순서대로 안내가 떠서, 처음이어도 따라 하기만 하면 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🗂️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결과물마다 다른 안내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일반·의류·과일채소·카드뉴스·썸네일 — 만들려는 것에 맞는 안내가 따로 준비되어 있습니다.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사진 올리기부터 저장까지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각 단계에서 무엇을 누르고 무엇을 입력하는지 화면 위에서 하나씩 짚어 줍니다.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A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91F28"/>
                </a:solidFill>
                <a:latin typeface="Pretendard"/>
                <a:ea typeface="Pretendard"/>
              </a:rPr>
              <a:t>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91F28"/>
                </a:solidFill>
                <a:latin typeface="Pretendard ExtraBold"/>
                <a:ea typeface="Pretendard ExtraBold"/>
              </a:rPr>
              <a:t>언제든 다시 보기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첫 화면의 “사용법 보기”를 누르면 언제든 처음부터 다시 볼 수 있습니다.</a:t>
            </a:r>
          </a:p>
        </p:txBody>
      </p:sp>
      <p:pic>
        <p:nvPicPr>
          <p:cNvPr id="15" name="Picture 14" descr="fc_gu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371600"/>
            <a:ext cx="3657600" cy="3237186"/>
          </a:xfrm>
          <a:prstGeom prst="rect">
            <a:avLst/>
          </a:prstGeom>
          <a:ln w="12700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718514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"/>
                <a:ea typeface="Pretendard"/>
              </a:rPr>
              <a:t>사용법 안내 실제 화면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두 서비스 연결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60120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191F28"/>
                </a:solidFill>
                <a:latin typeface="Noto Serif KR"/>
                <a:ea typeface="Noto Serif KR"/>
              </a:rPr>
              <a:t>프리캔버스 상단 메뉴에서 </a:t>
            </a:r>
            <a:r>
              <a:rPr sz="2200" b="1" i="0">
                <a:solidFill>
                  <a:srgbClr val="0F4E53"/>
                </a:solidFill>
                <a:latin typeface="Noto Serif KR"/>
                <a:ea typeface="Noto Serif KR"/>
              </a:rPr>
              <a:t>검색마스터</a:t>
            </a:r>
            <a:r>
              <a:rPr sz="2200" b="1" i="0">
                <a:solidFill>
                  <a:srgbClr val="191F28"/>
                </a:solidFill>
                <a:latin typeface="Noto Serif KR"/>
                <a:ea typeface="Noto Serif KR"/>
              </a:rPr>
              <a:t>로 바로 이동합니다.</a:t>
            </a:r>
          </a:p>
        </p:txBody>
      </p:sp>
      <p:pic>
        <p:nvPicPr>
          <p:cNvPr id="7" name="Picture 6" descr="fc_nav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783080"/>
            <a:ext cx="9994392" cy="616321"/>
          </a:xfrm>
          <a:prstGeom prst="rect">
            <a:avLst/>
          </a:prstGeom>
          <a:ln w="12700">
            <a:solidFill>
              <a:srgbClr val="D9D3C5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8" name="Oval 7"/>
          <p:cNvSpPr/>
          <p:nvPr/>
        </p:nvSpPr>
        <p:spPr>
          <a:xfrm>
            <a:off x="6014520" y="1732788"/>
            <a:ext cx="929478" cy="716904"/>
          </a:xfrm>
          <a:prstGeom prst="ellipse">
            <a:avLst/>
          </a:prstGeom>
          <a:noFill/>
          <a:ln w="28575">
            <a:solidFill>
              <a:srgbClr val="0F4E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27416"/>
            <a:ext cx="1054303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상단 메뉴 속 「검색마스터」 — 실제 화면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3291840"/>
            <a:ext cx="4206240" cy="1371600"/>
          </a:xfrm>
          <a:prstGeom prst="roundRect">
            <a:avLst>
              <a:gd name="adj" fmla="val 10000"/>
            </a:avLst>
          </a:prstGeom>
          <a:solidFill>
            <a:srgbClr val="FFFDF7"/>
          </a:solidFill>
          <a:ln w="9525">
            <a:solidFill>
              <a:srgbClr val="D9D3C5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81328" y="3529584"/>
            <a:ext cx="36118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50" b="1" i="0">
                <a:solidFill>
                  <a:srgbClr val="191F28"/>
                </a:solidFill>
                <a:latin typeface="Noto Serif KR"/>
                <a:ea typeface="Noto Serif KR"/>
              </a:rPr>
              <a:t>프리캔버스에서 작업하다가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B333D"/>
                </a:solidFill>
                <a:latin typeface="Pretendard"/>
                <a:ea typeface="Pretendard"/>
              </a:rPr>
              <a:t>상세페이지를 만들다 상품명이나 키워드가 필요해지면,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3566160"/>
            <a:ext cx="1051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2400" b="1" i="0">
                <a:solidFill>
                  <a:srgbClr val="0F4E53"/>
                </a:solidFill>
                <a:latin typeface="Pretendard"/>
                <a:ea typeface="Pretendard"/>
              </a:rPr>
              <a:t>→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0B3B3F"/>
                </a:solidFill>
                <a:latin typeface="Pretendard ExtraBold"/>
                <a:ea typeface="Pretendard ExtraBold"/>
              </a:rPr>
              <a:t>버튼 한 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12280" y="3291840"/>
            <a:ext cx="4206240" cy="1371600"/>
          </a:xfrm>
          <a:prstGeom prst="roundRect">
            <a:avLst>
              <a:gd name="adj" fmla="val 10000"/>
            </a:avLst>
          </a:prstGeom>
          <a:solidFill>
            <a:srgbClr val="F2F6F5"/>
          </a:solidFill>
          <a:ln w="9525">
            <a:solidFill>
              <a:srgbClr val="CFDEDC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04888" y="3529584"/>
            <a:ext cx="36118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50" b="1" i="0">
                <a:solidFill>
                  <a:srgbClr val="191F28"/>
                </a:solidFill>
                <a:latin typeface="Noto Serif KR"/>
                <a:ea typeface="Noto Serif KR"/>
              </a:rPr>
              <a:t>검색마스터가 새 탭으로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B333D"/>
                </a:solidFill>
                <a:latin typeface="Pretendard"/>
                <a:ea typeface="Pretendard"/>
              </a:rPr>
              <a:t>쓰던 구글 계정 그대로 열립니다. 다시 로그인할 필요가 없습니다.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63240" y="523036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3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91F28"/>
                </a:solidFill>
                <a:latin typeface="Pretendard SemiBold"/>
                <a:ea typeface="Pretendard SemiBold"/>
              </a:rPr>
              <a:t>● 하나의 구글 계정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4608" y="533095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으로 두 서비스를 오갑니다. 구독은 서비스별로 따로 적용됩니다.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0F4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0F4E53"/>
                </a:solidFill>
                <a:latin typeface="Pretendard ExtraBold"/>
                <a:ea typeface="Pretendard ExtraBold"/>
              </a:rPr>
              <a:t>실제 작업 순서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60120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91F28"/>
                </a:solidFill>
                <a:latin typeface="Noto Serif KR"/>
                <a:ea typeface="Noto Serif KR"/>
              </a:rPr>
              <a:t>상품 등록, 이 순서로 하면 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2269540" y="2194560"/>
            <a:ext cx="18288" cy="969264"/>
          </a:xfrm>
          <a:prstGeom prst="rect">
            <a:avLst/>
          </a:prstGeom>
          <a:solidFill>
            <a:srgbClr val="D9D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0B3B3F"/>
                </a:solidFill>
                <a:latin typeface="Noto Serif KR"/>
                <a:ea typeface="Noto Serif KR"/>
              </a:rPr>
              <a:t>1단계</a:t>
            </a:r>
          </a:p>
        </p:txBody>
      </p:sp>
      <p:sp>
        <p:nvSpPr>
          <p:cNvPr id="9" name="Oval 8"/>
          <p:cNvSpPr/>
          <p:nvPr/>
        </p:nvSpPr>
        <p:spPr>
          <a:xfrm>
            <a:off x="2212848" y="1993392"/>
            <a:ext cx="132588" cy="132588"/>
          </a:xfrm>
          <a:prstGeom prst="ellipse">
            <a:avLst/>
          </a:prstGeom>
          <a:solidFill>
            <a:srgbClr val="0F4E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606040" y="1920240"/>
            <a:ext cx="1024128" cy="256032"/>
          </a:xfrm>
          <a:prstGeom prst="roundRect">
            <a:avLst>
              <a:gd name="adj" fmla="val 50000"/>
            </a:avLst>
          </a:prstGeom>
          <a:solidFill>
            <a:srgbClr val="E6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0B3B3F"/>
                </a:solidFill>
                <a:latin typeface="Pretendard SemiBold"/>
                <a:ea typeface="Pretendard SemiBold"/>
              </a:rPr>
              <a:t>프리캔버스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258568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91F28"/>
                </a:solidFill>
                <a:latin typeface="Pretendard ExtraBold"/>
                <a:ea typeface="Pretendard ExtraBold"/>
              </a:rPr>
              <a:t>소싱 링크 붙여넣기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스마트스토어·1688 상품 주소로 이미지와 상품 정보를 가져옵니다.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69540" y="3273552"/>
            <a:ext cx="18288" cy="969264"/>
          </a:xfrm>
          <a:prstGeom prst="rect">
            <a:avLst/>
          </a:prstGeom>
          <a:solidFill>
            <a:srgbClr val="D9D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04495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0B3B3F"/>
                </a:solidFill>
                <a:latin typeface="Noto Serif KR"/>
                <a:ea typeface="Noto Serif KR"/>
              </a:rPr>
              <a:t>2단계</a:t>
            </a:r>
          </a:p>
        </p:txBody>
      </p:sp>
      <p:sp>
        <p:nvSpPr>
          <p:cNvPr id="14" name="Oval 13"/>
          <p:cNvSpPr/>
          <p:nvPr/>
        </p:nvSpPr>
        <p:spPr>
          <a:xfrm>
            <a:off x="2212848" y="3072384"/>
            <a:ext cx="132588" cy="132588"/>
          </a:xfrm>
          <a:prstGeom prst="ellipse">
            <a:avLst/>
          </a:prstGeom>
          <a:solidFill>
            <a:srgbClr val="0F4E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606040" y="2999232"/>
            <a:ext cx="1024128" cy="256032"/>
          </a:xfrm>
          <a:prstGeom prst="roundRect">
            <a:avLst>
              <a:gd name="adj" fmla="val 50000"/>
            </a:avLst>
          </a:prstGeom>
          <a:solidFill>
            <a:srgbClr val="E6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0F4E53"/>
                </a:solidFill>
                <a:latin typeface="Pretendard SemiBold"/>
                <a:ea typeface="Pretendard SemiBold"/>
              </a:rPr>
              <a:t>검색마스터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3337560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91F28"/>
                </a:solidFill>
                <a:latin typeface="Pretendard ExtraBold"/>
                <a:ea typeface="Pretendard ExtraBold"/>
              </a:rPr>
              <a:t>상품명·키워드 만들기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상단 메뉴로 이동해 사진과 설명을 넣고, 판매 채널에 맞는 상품명을 만듭니다.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69540" y="4352544"/>
            <a:ext cx="18288" cy="969264"/>
          </a:xfrm>
          <a:prstGeom prst="rect">
            <a:avLst/>
          </a:prstGeom>
          <a:solidFill>
            <a:srgbClr val="D9D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12394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0B3B3F"/>
                </a:solidFill>
                <a:latin typeface="Noto Serif KR"/>
                <a:ea typeface="Noto Serif KR"/>
              </a:rPr>
              <a:t>3단계</a:t>
            </a:r>
          </a:p>
        </p:txBody>
      </p:sp>
      <p:sp>
        <p:nvSpPr>
          <p:cNvPr id="19" name="Oval 18"/>
          <p:cNvSpPr/>
          <p:nvPr/>
        </p:nvSpPr>
        <p:spPr>
          <a:xfrm>
            <a:off x="2212848" y="4151376"/>
            <a:ext cx="132588" cy="132588"/>
          </a:xfrm>
          <a:prstGeom prst="ellipse">
            <a:avLst/>
          </a:prstGeom>
          <a:solidFill>
            <a:srgbClr val="0F4E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606040" y="4078224"/>
            <a:ext cx="1024128" cy="256032"/>
          </a:xfrm>
          <a:prstGeom prst="roundRect">
            <a:avLst>
              <a:gd name="adj" fmla="val 50000"/>
            </a:avLst>
          </a:prstGeom>
          <a:solidFill>
            <a:srgbClr val="E6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0B3B3F"/>
                </a:solidFill>
                <a:latin typeface="Pretendard SemiBold"/>
                <a:ea typeface="Pretendard SemiBold"/>
              </a:rPr>
              <a:t>프리캔버스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4416552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91F28"/>
                </a:solidFill>
                <a:latin typeface="Pretendard ExtraBold"/>
                <a:ea typeface="Pretendard ExtraBold"/>
              </a:rPr>
              <a:t>상세·영상·카드뉴스 만들기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같은 재료로 상세페이지를 만들고, 필요하면 영상 번역과 카드뉴스까지 뽑습니다.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20293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0B3B3F"/>
                </a:solidFill>
                <a:latin typeface="Noto Serif KR"/>
                <a:ea typeface="Noto Serif KR"/>
              </a:rPr>
              <a:t>4단계</a:t>
            </a:r>
          </a:p>
        </p:txBody>
      </p:sp>
      <p:sp>
        <p:nvSpPr>
          <p:cNvPr id="23" name="Oval 22"/>
          <p:cNvSpPr/>
          <p:nvPr/>
        </p:nvSpPr>
        <p:spPr>
          <a:xfrm>
            <a:off x="2212848" y="5230368"/>
            <a:ext cx="132588" cy="132588"/>
          </a:xfrm>
          <a:prstGeom prst="ellipse">
            <a:avLst/>
          </a:prstGeom>
          <a:solidFill>
            <a:srgbClr val="191F28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606040" y="5157216"/>
            <a:ext cx="640080" cy="256032"/>
          </a:xfrm>
          <a:prstGeom prst="roundRect">
            <a:avLst>
              <a:gd name="adj" fmla="val 50000"/>
            </a:avLst>
          </a:prstGeom>
          <a:solidFill>
            <a:srgbClr val="ED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E5964"/>
                </a:solidFill>
                <a:latin typeface="Pretendard SemiBold"/>
                <a:ea typeface="Pretendard SemiBold"/>
              </a:rPr>
              <a:t>셀러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5495544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91F28"/>
                </a:solidFill>
                <a:latin typeface="Pretendard ExtraBold"/>
                <a:ea typeface="Pretendard ExtraBold"/>
              </a:rPr>
              <a:t>플랫폼에 등록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완성본을 내려받아 판매 플랫폼에 그대로 올립니다.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E5964"/>
                </a:solidFill>
                <a:latin typeface="Pretendard SemiBold"/>
                <a:ea typeface="Pretendard SemiBold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914400"/>
            <a:ext cx="944575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 spc="140">
                <a:solidFill>
                  <a:srgbClr val="0F4E53"/>
                </a:solidFill>
                <a:latin typeface="Pretendard ExtraBold"/>
                <a:ea typeface="Pretendard ExtraBold"/>
              </a:rPr>
              <a:t>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25880"/>
            <a:ext cx="10360152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700" b="1" i="0">
                <a:solidFill>
                  <a:srgbClr val="191F28"/>
                </a:solidFill>
                <a:latin typeface="Noto Serif KR"/>
                <a:ea typeface="Noto Serif KR"/>
              </a:rPr>
              <a:t>다음 상품부터</a:t>
            </a:r>
          </a:p>
          <a:p>
            <a:pPr algn="ctr">
              <a:lnSpc>
                <a:spcPct val="130000"/>
              </a:lnSpc>
            </a:pPr>
            <a:r>
              <a:rPr sz="2700" b="1" i="0">
                <a:solidFill>
                  <a:srgbClr val="191F28"/>
                </a:solidFill>
                <a:latin typeface="Noto Serif KR"/>
                <a:ea typeface="Noto Serif KR"/>
              </a:rPr>
              <a:t>바로 써 보세요.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34440" y="3063240"/>
            <a:ext cx="315468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72184" y="3291840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0" i="0">
                <a:solidFill>
                  <a:srgbClr val="2B333D"/>
                </a:solidFill>
                <a:latin typeface="Pretendard ExtraBold"/>
                <a:ea typeface="Pretendard ExtraBold"/>
              </a:rPr>
              <a:t>🔑 로그인은 한 번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E5964"/>
                </a:solidFill>
                <a:latin typeface="Pretendard"/>
                <a:ea typeface="Pretendard"/>
              </a:rPr>
              <a:t>구글 계정 하나로 두 서비스를 자유롭게 오갑니다.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17136" y="3063240"/>
            <a:ext cx="315468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3291840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0" i="0">
                <a:solidFill>
                  <a:srgbClr val="2B333D"/>
                </a:solidFill>
                <a:latin typeface="Pretendard ExtraBold"/>
                <a:ea typeface="Pretendard ExtraBold"/>
              </a:rPr>
              <a:t>🧭 역할 분담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E5964"/>
                </a:solidFill>
                <a:latin typeface="Pretendard"/>
                <a:ea typeface="Pretendard"/>
              </a:rPr>
              <a:t>상품명·키워드는 검색마스터, 상세페이지·영상·카드뉴스는 프리캔버스.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99832" y="3063240"/>
            <a:ext cx="315468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AE5D8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7576" y="3291840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0" i="0">
                <a:solidFill>
                  <a:srgbClr val="2B333D"/>
                </a:solidFill>
                <a:latin typeface="Pretendard ExtraBold"/>
                <a:ea typeface="Pretendard ExtraBold"/>
              </a:rPr>
              <a:t>✨ 새로 추가된 기능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E5964"/>
                </a:solidFill>
                <a:latin typeface="Pretendard"/>
                <a:ea typeface="Pretendard"/>
              </a:rPr>
              <a:t>설명 입력 · 링크 불러오기 · 영상 번역 · 상세 편집 · 카드뉴스 · 지우개.</a:t>
            </a:r>
          </a:p>
        </p:txBody>
      </p:sp>
      <p:sp>
        <p:nvSpPr>
          <p:cNvPr id="12" name="Rounded Rectangle 11">
            <a:hlinkClick r:id="rId2"/>
          </p:cNvPr>
          <p:cNvSpPr/>
          <p:nvPr/>
        </p:nvSpPr>
        <p:spPr>
          <a:xfrm>
            <a:off x="1234440" y="4800600"/>
            <a:ext cx="4800600" cy="841248"/>
          </a:xfrm>
          <a:prstGeom prst="roundRect">
            <a:avLst>
              <a:gd name="adj" fmla="val 12000"/>
            </a:avLst>
          </a:prstGeom>
          <a:solidFill>
            <a:srgbClr val="F4F0E6"/>
          </a:solidFill>
          <a:ln w="9525">
            <a:solidFill>
              <a:srgbClr val="D9D3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8760" y="4956048"/>
            <a:ext cx="4297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 i="0">
                <a:solidFill>
                  <a:srgbClr val="0F4E53"/>
                </a:solidFill>
                <a:latin typeface="Pretendard ExtraBold"/>
                <a:ea typeface="Pretendard ExtraBold"/>
              </a:rPr>
              <a:t>검색마스터 — 상품명 생성기</a:t>
            </a:r>
          </a:p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0F4E53"/>
                </a:solidFill>
                <a:latin typeface="Pretendard ExtraBold"/>
                <a:ea typeface="Pretendard ExtraBold"/>
              </a:rPr>
              <a:t>ramiteacher.github.io/product-title-ai</a:t>
            </a:r>
          </a:p>
        </p:txBody>
      </p:sp>
      <p:sp>
        <p:nvSpPr>
          <p:cNvPr id="14" name="Rounded Rectangle 13">
            <a:hlinkClick r:id="rId3"/>
          </p:cNvPr>
          <p:cNvSpPr/>
          <p:nvPr/>
        </p:nvSpPr>
        <p:spPr>
          <a:xfrm>
            <a:off x="6163056" y="4800600"/>
            <a:ext cx="4800600" cy="841248"/>
          </a:xfrm>
          <a:prstGeom prst="roundRect">
            <a:avLst>
              <a:gd name="adj" fmla="val 12000"/>
            </a:avLst>
          </a:prstGeom>
          <a:solidFill>
            <a:srgbClr val="F4F0E6"/>
          </a:solidFill>
          <a:ln w="9525">
            <a:solidFill>
              <a:srgbClr val="D9D3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7376" y="4956048"/>
            <a:ext cx="4297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 i="0">
                <a:solidFill>
                  <a:srgbClr val="0F4E53"/>
                </a:solidFill>
                <a:latin typeface="Pretendard ExtraBold"/>
                <a:ea typeface="Pretendard ExtraBold"/>
              </a:rPr>
              <a:t>프리캔버스 — 상세페이지 생성기</a:t>
            </a:r>
          </a:p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0F4E53"/>
                </a:solidFill>
                <a:latin typeface="Pretendard ExtraBold"/>
                <a:ea typeface="Pretendard ExtraBold"/>
              </a:rPr>
              <a:t>www.freecanvas.ai.kr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806440"/>
            <a:ext cx="103601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쓰다가 막히는 게 있으면, 화면 아래 </a:t>
            </a:r>
            <a:r>
              <a:rPr sz="1050" b="0" i="0">
                <a:solidFill>
                  <a:srgbClr val="2B333D"/>
                </a:solidFill>
                <a:latin typeface="Pretendard ExtraBold"/>
                <a:ea typeface="Pretendard ExtraBold"/>
              </a:rPr>
              <a:t>'고객센터 문의하기'</a:t>
            </a:r>
            <a:r>
              <a:rPr sz="1050" b="0" i="0">
                <a:solidFill>
                  <a:srgbClr val="4E5964"/>
                </a:solidFill>
                <a:latin typeface="Pretendard"/>
                <a:ea typeface="Pretendard"/>
              </a:rPr>
              <a:t>로 편하게 남겨 주세요.</a:t>
            </a:r>
          </a:p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B333D"/>
                </a:solidFill>
                <a:latin typeface="Noto Serif KR"/>
                <a:ea typeface="Noto Serif KR"/>
              </a:rPr>
              <a:t>감사합니다.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